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8" r:id="rId1"/>
  </p:sldMasterIdLst>
  <p:notesMasterIdLst>
    <p:notesMasterId r:id="rId18"/>
  </p:notesMasterIdLst>
  <p:sldIdLst>
    <p:sldId id="256" r:id="rId2"/>
    <p:sldId id="259" r:id="rId3"/>
    <p:sldId id="258" r:id="rId4"/>
    <p:sldId id="260" r:id="rId5"/>
    <p:sldId id="261" r:id="rId6"/>
    <p:sldId id="262" r:id="rId7"/>
    <p:sldId id="263" r:id="rId8"/>
    <p:sldId id="264" r:id="rId9"/>
    <p:sldId id="269" r:id="rId10"/>
    <p:sldId id="270" r:id="rId11"/>
    <p:sldId id="271" r:id="rId12"/>
    <p:sldId id="265" r:id="rId13"/>
    <p:sldId id="266" r:id="rId14"/>
    <p:sldId id="267" r:id="rId15"/>
    <p:sldId id="272" r:id="rId16"/>
    <p:sldId id="268"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el Bakrania" userId="03eca11c0491c1b7" providerId="LiveId" clId="{45D04F7B-B248-4823-80BB-A3585EB4F70B}"/>
    <pc:docChg chg="custSel addSld modSld">
      <pc:chgData name="Jeel Bakrania" userId="03eca11c0491c1b7" providerId="LiveId" clId="{45D04F7B-B248-4823-80BB-A3585EB4F70B}" dt="2026-10-15T06:48:31.879" v="269" actId="478"/>
      <pc:docMkLst>
        <pc:docMk/>
      </pc:docMkLst>
      <pc:sldChg chg="modSp mod">
        <pc:chgData name="Jeel Bakrania" userId="03eca11c0491c1b7" providerId="LiveId" clId="{45D04F7B-B248-4823-80BB-A3585EB4F70B}" dt="2026-10-15T06:36:32.814" v="161" actId="20577"/>
        <pc:sldMkLst>
          <pc:docMk/>
          <pc:sldMk cId="409721064" sldId="264"/>
        </pc:sldMkLst>
        <pc:spChg chg="mod">
          <ac:chgData name="Jeel Bakrania" userId="03eca11c0491c1b7" providerId="LiveId" clId="{45D04F7B-B248-4823-80BB-A3585EB4F70B}" dt="2026-10-15T06:36:32.814" v="161" actId="20577"/>
          <ac:spMkLst>
            <pc:docMk/>
            <pc:sldMk cId="409721064" sldId="264"/>
            <ac:spMk id="2" creationId="{E1582779-D861-3AEB-E44E-1ABC3E1ABE3B}"/>
          </ac:spMkLst>
        </pc:spChg>
      </pc:sldChg>
      <pc:sldChg chg="modSp mod">
        <pc:chgData name="Jeel Bakrania" userId="03eca11c0491c1b7" providerId="LiveId" clId="{45D04F7B-B248-4823-80BB-A3585EB4F70B}" dt="2026-10-15T06:22:37.407" v="0" actId="115"/>
        <pc:sldMkLst>
          <pc:docMk/>
          <pc:sldMk cId="1883871738" sldId="265"/>
        </pc:sldMkLst>
        <pc:spChg chg="mod">
          <ac:chgData name="Jeel Bakrania" userId="03eca11c0491c1b7" providerId="LiveId" clId="{45D04F7B-B248-4823-80BB-A3585EB4F70B}" dt="2026-10-15T06:22:37.407" v="0" actId="115"/>
          <ac:spMkLst>
            <pc:docMk/>
            <pc:sldMk cId="1883871738" sldId="265"/>
            <ac:spMk id="6" creationId="{963B83CD-43FE-D3BD-1616-14EA0346CD4B}"/>
          </ac:spMkLst>
        </pc:spChg>
      </pc:sldChg>
      <pc:sldChg chg="modSp new mod">
        <pc:chgData name="Jeel Bakrania" userId="03eca11c0491c1b7" providerId="LiveId" clId="{45D04F7B-B248-4823-80BB-A3585EB4F70B}" dt="2026-10-15T06:27:29.528" v="109" actId="20577"/>
        <pc:sldMkLst>
          <pc:docMk/>
          <pc:sldMk cId="2092394615" sldId="266"/>
        </pc:sldMkLst>
        <pc:spChg chg="mod">
          <ac:chgData name="Jeel Bakrania" userId="03eca11c0491c1b7" providerId="LiveId" clId="{45D04F7B-B248-4823-80BB-A3585EB4F70B}" dt="2026-10-15T06:24:56.482" v="95" actId="20577"/>
          <ac:spMkLst>
            <pc:docMk/>
            <pc:sldMk cId="2092394615" sldId="266"/>
            <ac:spMk id="2" creationId="{4145E6A4-322F-1571-FC15-0B8B8C1BCB80}"/>
          </ac:spMkLst>
        </pc:spChg>
        <pc:spChg chg="mod">
          <ac:chgData name="Jeel Bakrania" userId="03eca11c0491c1b7" providerId="LiveId" clId="{45D04F7B-B248-4823-80BB-A3585EB4F70B}" dt="2026-10-15T06:27:29.528" v="109" actId="20577"/>
          <ac:spMkLst>
            <pc:docMk/>
            <pc:sldMk cId="2092394615" sldId="266"/>
            <ac:spMk id="6" creationId="{A7A89AD7-0D4F-A58F-4B0D-16D88401F55F}"/>
          </ac:spMkLst>
        </pc:spChg>
      </pc:sldChg>
      <pc:sldChg chg="modSp new mod">
        <pc:chgData name="Jeel Bakrania" userId="03eca11c0491c1b7" providerId="LiveId" clId="{45D04F7B-B248-4823-80BB-A3585EB4F70B}" dt="2026-10-15T06:34:22.836" v="147" actId="113"/>
        <pc:sldMkLst>
          <pc:docMk/>
          <pc:sldMk cId="3536154467" sldId="267"/>
        </pc:sldMkLst>
        <pc:spChg chg="mod">
          <ac:chgData name="Jeel Bakrania" userId="03eca11c0491c1b7" providerId="LiveId" clId="{45D04F7B-B248-4823-80BB-A3585EB4F70B}" dt="2026-10-15T06:28:15.833" v="116" actId="27636"/>
          <ac:spMkLst>
            <pc:docMk/>
            <pc:sldMk cId="3536154467" sldId="267"/>
            <ac:spMk id="2" creationId="{CFCDDF74-CDF1-D080-1CB2-194DA4E363AB}"/>
          </ac:spMkLst>
        </pc:spChg>
        <pc:spChg chg="mod">
          <ac:chgData name="Jeel Bakrania" userId="03eca11c0491c1b7" providerId="LiveId" clId="{45D04F7B-B248-4823-80BB-A3585EB4F70B}" dt="2026-10-15T06:34:22.836" v="147" actId="113"/>
          <ac:spMkLst>
            <pc:docMk/>
            <pc:sldMk cId="3536154467" sldId="267"/>
            <ac:spMk id="6" creationId="{07A4F03F-B38E-B391-C8CF-8FC3A6848AF0}"/>
          </ac:spMkLst>
        </pc:spChg>
      </pc:sldChg>
      <pc:sldChg chg="modSp new mod">
        <pc:chgData name="Jeel Bakrania" userId="03eca11c0491c1b7" providerId="LiveId" clId="{45D04F7B-B248-4823-80BB-A3585EB4F70B}" dt="2026-10-15T06:36:04.423" v="155" actId="27636"/>
        <pc:sldMkLst>
          <pc:docMk/>
          <pc:sldMk cId="2119805408" sldId="268"/>
        </pc:sldMkLst>
        <pc:spChg chg="mod">
          <ac:chgData name="Jeel Bakrania" userId="03eca11c0491c1b7" providerId="LiveId" clId="{45D04F7B-B248-4823-80BB-A3585EB4F70B}" dt="2026-10-15T06:35:08.885" v="152" actId="122"/>
          <ac:spMkLst>
            <pc:docMk/>
            <pc:sldMk cId="2119805408" sldId="268"/>
            <ac:spMk id="2" creationId="{027DAD49-B072-38E8-D239-4E891ADD785B}"/>
          </ac:spMkLst>
        </pc:spChg>
        <pc:spChg chg="mod">
          <ac:chgData name="Jeel Bakrania" userId="03eca11c0491c1b7" providerId="LiveId" clId="{45D04F7B-B248-4823-80BB-A3585EB4F70B}" dt="2026-10-15T06:36:04.423" v="155" actId="27636"/>
          <ac:spMkLst>
            <pc:docMk/>
            <pc:sldMk cId="2119805408" sldId="268"/>
            <ac:spMk id="6" creationId="{6339149D-E1E3-9402-62EF-F7C3C42B6BBF}"/>
          </ac:spMkLst>
        </pc:spChg>
      </pc:sldChg>
      <pc:sldChg chg="addSp delSp modSp new mod">
        <pc:chgData name="Jeel Bakrania" userId="03eca11c0491c1b7" providerId="LiveId" clId="{45D04F7B-B248-4823-80BB-A3585EB4F70B}" dt="2026-10-15T06:37:40.908" v="189" actId="1076"/>
        <pc:sldMkLst>
          <pc:docMk/>
          <pc:sldMk cId="3936997985" sldId="269"/>
        </pc:sldMkLst>
        <pc:spChg chg="del mod">
          <ac:chgData name="Jeel Bakrania" userId="03eca11c0491c1b7" providerId="LiveId" clId="{45D04F7B-B248-4823-80BB-A3585EB4F70B}" dt="2026-10-15T06:36:57.056" v="165" actId="478"/>
          <ac:spMkLst>
            <pc:docMk/>
            <pc:sldMk cId="3936997985" sldId="269"/>
            <ac:spMk id="2" creationId="{5372CFB1-E1FF-BDC1-61EA-AFCBC108575D}"/>
          </ac:spMkLst>
        </pc:spChg>
        <pc:spChg chg="mod">
          <ac:chgData name="Jeel Bakrania" userId="03eca11c0491c1b7" providerId="LiveId" clId="{45D04F7B-B248-4823-80BB-A3585EB4F70B}" dt="2026-10-15T06:37:33.080" v="186" actId="115"/>
          <ac:spMkLst>
            <pc:docMk/>
            <pc:sldMk cId="3936997985" sldId="269"/>
            <ac:spMk id="6" creationId="{20698155-2B41-CCAD-E605-F4CD5764A861}"/>
          </ac:spMkLst>
        </pc:spChg>
        <pc:picChg chg="add mod">
          <ac:chgData name="Jeel Bakrania" userId="03eca11c0491c1b7" providerId="LiveId" clId="{45D04F7B-B248-4823-80BB-A3585EB4F70B}" dt="2026-10-15T06:37:40.908" v="189" actId="1076"/>
          <ac:picMkLst>
            <pc:docMk/>
            <pc:sldMk cId="3936997985" sldId="269"/>
            <ac:picMk id="8" creationId="{15E40E74-A0FF-9B49-26DD-CACC36391377}"/>
          </ac:picMkLst>
        </pc:picChg>
      </pc:sldChg>
      <pc:sldChg chg="addSp delSp modSp new mod">
        <pc:chgData name="Jeel Bakrania" userId="03eca11c0491c1b7" providerId="LiveId" clId="{45D04F7B-B248-4823-80BB-A3585EB4F70B}" dt="2026-10-15T06:39:10.241" v="204" actId="14100"/>
        <pc:sldMkLst>
          <pc:docMk/>
          <pc:sldMk cId="3949593855" sldId="270"/>
        </pc:sldMkLst>
        <pc:spChg chg="del">
          <ac:chgData name="Jeel Bakrania" userId="03eca11c0491c1b7" providerId="LiveId" clId="{45D04F7B-B248-4823-80BB-A3585EB4F70B}" dt="2026-10-15T06:37:54.357" v="191" actId="478"/>
          <ac:spMkLst>
            <pc:docMk/>
            <pc:sldMk cId="3949593855" sldId="270"/>
            <ac:spMk id="2" creationId="{2DFC34C3-F9E8-A754-AA43-167CF1C73F3F}"/>
          </ac:spMkLst>
        </pc:spChg>
        <pc:spChg chg="mod">
          <ac:chgData name="Jeel Bakrania" userId="03eca11c0491c1b7" providerId="LiveId" clId="{45D04F7B-B248-4823-80BB-A3585EB4F70B}" dt="2026-10-15T06:38:21.244" v="198" actId="5793"/>
          <ac:spMkLst>
            <pc:docMk/>
            <pc:sldMk cId="3949593855" sldId="270"/>
            <ac:spMk id="6" creationId="{57B4C12F-11DF-C701-5D7E-509804A95B4F}"/>
          </ac:spMkLst>
        </pc:spChg>
        <pc:picChg chg="add mod">
          <ac:chgData name="Jeel Bakrania" userId="03eca11c0491c1b7" providerId="LiveId" clId="{45D04F7B-B248-4823-80BB-A3585EB4F70B}" dt="2026-10-15T06:39:10.241" v="204" actId="14100"/>
          <ac:picMkLst>
            <pc:docMk/>
            <pc:sldMk cId="3949593855" sldId="270"/>
            <ac:picMk id="8" creationId="{8272D67B-4FFF-3CA2-BDD2-15E1512056C0}"/>
          </ac:picMkLst>
        </pc:picChg>
      </pc:sldChg>
      <pc:sldChg chg="addSp delSp modSp new mod">
        <pc:chgData name="Jeel Bakrania" userId="03eca11c0491c1b7" providerId="LiveId" clId="{45D04F7B-B248-4823-80BB-A3585EB4F70B}" dt="2026-10-15T06:39:43.394" v="210" actId="14100"/>
        <pc:sldMkLst>
          <pc:docMk/>
          <pc:sldMk cId="4082692664" sldId="271"/>
        </pc:sldMkLst>
        <pc:spChg chg="del">
          <ac:chgData name="Jeel Bakrania" userId="03eca11c0491c1b7" providerId="LiveId" clId="{45D04F7B-B248-4823-80BB-A3585EB4F70B}" dt="2026-10-15T06:39:25.359" v="206" actId="478"/>
          <ac:spMkLst>
            <pc:docMk/>
            <pc:sldMk cId="4082692664" sldId="271"/>
            <ac:spMk id="2" creationId="{F622DCEC-F02E-0F9A-0387-D14CC4E38D7F}"/>
          </ac:spMkLst>
        </pc:spChg>
        <pc:spChg chg="del mod">
          <ac:chgData name="Jeel Bakrania" userId="03eca11c0491c1b7" providerId="LiveId" clId="{45D04F7B-B248-4823-80BB-A3585EB4F70B}" dt="2026-10-15T06:39:40.432" v="209"/>
          <ac:spMkLst>
            <pc:docMk/>
            <pc:sldMk cId="4082692664" sldId="271"/>
            <ac:spMk id="6" creationId="{842C73DE-CA4F-7FA3-9D5D-9078471134F2}"/>
          </ac:spMkLst>
        </pc:spChg>
        <pc:picChg chg="add mod">
          <ac:chgData name="Jeel Bakrania" userId="03eca11c0491c1b7" providerId="LiveId" clId="{45D04F7B-B248-4823-80BB-A3585EB4F70B}" dt="2026-10-15T06:39:43.394" v="210" actId="14100"/>
          <ac:picMkLst>
            <pc:docMk/>
            <pc:sldMk cId="4082692664" sldId="271"/>
            <ac:picMk id="8" creationId="{3AF7DE67-840C-6047-B052-28C297F42FCC}"/>
          </ac:picMkLst>
        </pc:picChg>
      </pc:sldChg>
      <pc:sldChg chg="addSp delSp modSp new mod">
        <pc:chgData name="Jeel Bakrania" userId="03eca11c0491c1b7" providerId="LiveId" clId="{45D04F7B-B248-4823-80BB-A3585EB4F70B}" dt="2026-10-15T06:48:31.879" v="269" actId="478"/>
        <pc:sldMkLst>
          <pc:docMk/>
          <pc:sldMk cId="405373237" sldId="272"/>
        </pc:sldMkLst>
        <pc:spChg chg="mod">
          <ac:chgData name="Jeel Bakrania" userId="03eca11c0491c1b7" providerId="LiveId" clId="{45D04F7B-B248-4823-80BB-A3585EB4F70B}" dt="2026-10-15T06:47:42.310" v="260" actId="14100"/>
          <ac:spMkLst>
            <pc:docMk/>
            <pc:sldMk cId="405373237" sldId="272"/>
            <ac:spMk id="2" creationId="{AEF7977D-07A6-CF0D-0659-F868F4004E7A}"/>
          </ac:spMkLst>
        </pc:spChg>
        <pc:spChg chg="del mod">
          <ac:chgData name="Jeel Bakrania" userId="03eca11c0491c1b7" providerId="LiveId" clId="{45D04F7B-B248-4823-80BB-A3585EB4F70B}" dt="2026-10-15T06:48:31.879" v="269" actId="478"/>
          <ac:spMkLst>
            <pc:docMk/>
            <pc:sldMk cId="405373237" sldId="272"/>
            <ac:spMk id="3" creationId="{EE65AAA3-94D3-F61E-1C68-9DE8F1398E22}"/>
          </ac:spMkLst>
        </pc:spChg>
        <pc:spChg chg="mod">
          <ac:chgData name="Jeel Bakrania" userId="03eca11c0491c1b7" providerId="LiveId" clId="{45D04F7B-B248-4823-80BB-A3585EB4F70B}" dt="2026-10-15T06:47:54.962" v="263" actId="14100"/>
          <ac:spMkLst>
            <pc:docMk/>
            <pc:sldMk cId="405373237" sldId="272"/>
            <ac:spMk id="6" creationId="{4990D040-DB76-274E-334A-72AB7198B3BA}"/>
          </ac:spMkLst>
        </pc:spChg>
        <pc:picChg chg="add mod">
          <ac:chgData name="Jeel Bakrania" userId="03eca11c0491c1b7" providerId="LiveId" clId="{45D04F7B-B248-4823-80BB-A3585EB4F70B}" dt="2026-10-15T06:47:42.310" v="260" actId="14100"/>
          <ac:picMkLst>
            <pc:docMk/>
            <pc:sldMk cId="405373237" sldId="272"/>
            <ac:picMk id="1026" creationId="{0116754E-FC93-9C24-9342-4AB7F6D3CCD7}"/>
          </ac:picMkLst>
        </pc:picChg>
        <pc:picChg chg="add mod">
          <ac:chgData name="Jeel Bakrania" userId="03eca11c0491c1b7" providerId="LiveId" clId="{45D04F7B-B248-4823-80BB-A3585EB4F70B}" dt="2026-10-15T06:47:54.962" v="263" actId="14100"/>
          <ac:picMkLst>
            <pc:docMk/>
            <pc:sldMk cId="405373237" sldId="272"/>
            <ac:picMk id="1028" creationId="{1169620A-483B-1E41-7CF1-39D9918695C9}"/>
          </ac:picMkLst>
        </pc:picChg>
        <pc:picChg chg="add mod">
          <ac:chgData name="Jeel Bakrania" userId="03eca11c0491c1b7" providerId="LiveId" clId="{45D04F7B-B248-4823-80BB-A3585EB4F70B}" dt="2026-10-15T06:48:27.535" v="268" actId="14100"/>
          <ac:picMkLst>
            <pc:docMk/>
            <pc:sldMk cId="405373237" sldId="272"/>
            <ac:picMk id="1030" creationId="{36C7A11B-434C-55B6-72A8-8D0FAF6AEAC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57A213-BE6B-43C7-B1FE-AADA6081DE38}" type="datetimeFigureOut">
              <a:rPr lang="en-US" smtClean="0"/>
              <a:t>10/15/2026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962463-EC55-413E-926C-081D28A3F7DD}" type="slidenum">
              <a:rPr lang="en-US" smtClean="0"/>
              <a:t>‹#›</a:t>
            </a:fld>
            <a:endParaRPr lang="en-US"/>
          </a:p>
        </p:txBody>
      </p:sp>
    </p:spTree>
    <p:extLst>
      <p:ext uri="{BB962C8B-B14F-4D97-AF65-F5344CB8AC3E}">
        <p14:creationId xmlns:p14="http://schemas.microsoft.com/office/powerpoint/2010/main" val="1450997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1E710ACA-83A2-4DA3-93B6-E68125FA916E}" type="datetime1">
              <a:rPr lang="en-US" smtClean="0"/>
              <a:t>10/15/2026</a:t>
            </a:fld>
            <a:endParaRPr lang="en-US"/>
          </a:p>
        </p:txBody>
      </p:sp>
      <p:sp>
        <p:nvSpPr>
          <p:cNvPr id="17" name="Footer Placeholder 16"/>
          <p:cNvSpPr>
            <a:spLocks noGrp="1"/>
          </p:cNvSpPr>
          <p:nvPr>
            <p:ph type="ftr" sz="quarter" idx="11"/>
          </p:nvPr>
        </p:nvSpPr>
        <p:spPr/>
        <p:txBody>
          <a:bodyPr/>
          <a:lstStyle/>
          <a:p>
            <a:r>
              <a:rPr lang="en-US"/>
              <a:t>Department of Electrical and Electronics Engineering</a:t>
            </a: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D8A17782-1209-4799-A160-B341E473A7CD}" type="datetime1">
              <a:rPr lang="en-US" smtClean="0"/>
              <a:t>10/15/2026</a:t>
            </a:fld>
            <a:endParaRPr lang="en-US"/>
          </a:p>
        </p:txBody>
      </p:sp>
      <p:sp>
        <p:nvSpPr>
          <p:cNvPr id="5" name="Footer Placeholder 4"/>
          <p:cNvSpPr>
            <a:spLocks noGrp="1"/>
          </p:cNvSpPr>
          <p:nvPr>
            <p:ph type="ftr" sz="quarter" idx="11"/>
          </p:nvPr>
        </p:nvSpPr>
        <p:spPr/>
        <p:txBody>
          <a:bodyPr/>
          <a:lstStyle/>
          <a:p>
            <a:r>
              <a:rPr lang="en-US"/>
              <a:t>Department of Electrical and Electronics Engineering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B88CA135-9B52-424F-9138-6CFF67B8E8AC}" type="datetime1">
              <a:rPr lang="en-US" smtClean="0"/>
              <a:t>10/15/2026</a:t>
            </a:fld>
            <a:endParaRPr lang="en-US"/>
          </a:p>
        </p:txBody>
      </p:sp>
      <p:sp>
        <p:nvSpPr>
          <p:cNvPr id="5" name="Footer Placeholder 4"/>
          <p:cNvSpPr>
            <a:spLocks noGrp="1"/>
          </p:cNvSpPr>
          <p:nvPr>
            <p:ph type="ftr" sz="quarter" idx="11"/>
          </p:nvPr>
        </p:nvSpPr>
        <p:spPr>
          <a:xfrm>
            <a:off x="800100" y="6172200"/>
            <a:ext cx="4000500" cy="457200"/>
          </a:xfrm>
        </p:spPr>
        <p:txBody>
          <a:bodyPr/>
          <a:lstStyle/>
          <a:p>
            <a:r>
              <a:rPr lang="en-US"/>
              <a:t>Department of Electrical and Electronics Engineering</a:t>
            </a: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3441A7F9-CCB1-40D1-B9CC-0E17368C26D2}" type="datetime1">
              <a:rPr lang="en-US" smtClean="0"/>
              <a:t>10/15/2026</a:t>
            </a:fld>
            <a:endParaRPr lang="en-US"/>
          </a:p>
        </p:txBody>
      </p:sp>
      <p:sp>
        <p:nvSpPr>
          <p:cNvPr id="6" name="Footer Placeholder 5"/>
          <p:cNvSpPr>
            <a:spLocks noGrp="1"/>
          </p:cNvSpPr>
          <p:nvPr>
            <p:ph type="ftr" sz="quarter" idx="11"/>
          </p:nvPr>
        </p:nvSpPr>
        <p:spPr/>
        <p:txBody>
          <a:bodyPr/>
          <a:lstStyle/>
          <a:p>
            <a:r>
              <a:rPr lang="en-US"/>
              <a:t>Department of Electrical and Electronics Engineering</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C18F5563-252C-4B1A-A2FF-CA8FA2FDE506}" type="datetime1">
              <a:rPr lang="en-US" smtClean="0"/>
              <a:t>10/15/2026</a:t>
            </a:fld>
            <a:endParaRPr lang="en-US"/>
          </a:p>
        </p:txBody>
      </p:sp>
      <p:sp>
        <p:nvSpPr>
          <p:cNvPr id="8" name="Footer Placeholder 7"/>
          <p:cNvSpPr>
            <a:spLocks noGrp="1"/>
          </p:cNvSpPr>
          <p:nvPr>
            <p:ph type="ftr" sz="quarter" idx="11"/>
          </p:nvPr>
        </p:nvSpPr>
        <p:spPr/>
        <p:txBody>
          <a:bodyPr/>
          <a:lstStyle/>
          <a:p>
            <a:r>
              <a:rPr lang="en-US"/>
              <a:t>Department of Electrical and Electronics Engineering</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7064672-CBD2-4792-B35D-D986D8EA46BE}" type="datetime1">
              <a:rPr lang="en-US" smtClean="0"/>
              <a:t>10/15/2026</a:t>
            </a:fld>
            <a:endParaRPr lang="en-US"/>
          </a:p>
        </p:txBody>
      </p:sp>
      <p:sp>
        <p:nvSpPr>
          <p:cNvPr id="4" name="Footer Placeholder 3"/>
          <p:cNvSpPr>
            <a:spLocks noGrp="1"/>
          </p:cNvSpPr>
          <p:nvPr>
            <p:ph type="ftr" sz="quarter" idx="11"/>
          </p:nvPr>
        </p:nvSpPr>
        <p:spPr/>
        <p:txBody>
          <a:bodyPr/>
          <a:lstStyle/>
          <a:p>
            <a:r>
              <a:rPr lang="en-US"/>
              <a:t>Department of Electrical and Electronics Engineering</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772B42-BB0F-498C-9EC8-BDFA99A52050}" type="datetime1">
              <a:rPr lang="en-US" smtClean="0"/>
              <a:t>10/15/2026</a:t>
            </a:fld>
            <a:endParaRPr lang="en-US"/>
          </a:p>
        </p:txBody>
      </p:sp>
      <p:sp>
        <p:nvSpPr>
          <p:cNvPr id="3" name="Footer Placeholder 2"/>
          <p:cNvSpPr>
            <a:spLocks noGrp="1"/>
          </p:cNvSpPr>
          <p:nvPr>
            <p:ph type="ftr" sz="quarter" idx="11"/>
          </p:nvPr>
        </p:nvSpPr>
        <p:spPr/>
        <p:txBody>
          <a:bodyPr/>
          <a:lstStyle/>
          <a:p>
            <a:r>
              <a:rPr lang="en-US"/>
              <a:t>Department of Electrical and Electronics Engineering</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B5E85A-AB81-4DA3-BDE5-91D5E74BA487}" type="datetime1">
              <a:rPr lang="en-US" smtClean="0"/>
              <a:t>10/15/2026</a:t>
            </a:fld>
            <a:endParaRPr lang="en-US"/>
          </a:p>
        </p:txBody>
      </p:sp>
      <p:sp>
        <p:nvSpPr>
          <p:cNvPr id="6" name="Footer Placeholder 5"/>
          <p:cNvSpPr>
            <a:spLocks noGrp="1"/>
          </p:cNvSpPr>
          <p:nvPr>
            <p:ph type="ftr" sz="quarter" idx="11"/>
          </p:nvPr>
        </p:nvSpPr>
        <p:spPr/>
        <p:txBody>
          <a:bodyPr/>
          <a:lstStyle/>
          <a:p>
            <a:r>
              <a:rPr lang="en-US"/>
              <a:t>Department of Electrical and Electronics Engineering</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AD4A742F-05D3-46D5-ABB2-2FA098C4F8D5}" type="datetime1">
              <a:rPr lang="en-US" smtClean="0"/>
              <a:t>10/15/2026</a:t>
            </a:fld>
            <a:endParaRPr lang="en-US"/>
          </a:p>
        </p:txBody>
      </p:sp>
      <p:sp>
        <p:nvSpPr>
          <p:cNvPr id="6" name="Footer Placeholder 5"/>
          <p:cNvSpPr>
            <a:spLocks noGrp="1"/>
          </p:cNvSpPr>
          <p:nvPr>
            <p:ph type="ftr" sz="quarter" idx="11"/>
          </p:nvPr>
        </p:nvSpPr>
        <p:spPr>
          <a:xfrm>
            <a:off x="914400" y="6172200"/>
            <a:ext cx="3886200" cy="457200"/>
          </a:xfrm>
        </p:spPr>
        <p:txBody>
          <a:bodyPr/>
          <a:lstStyle/>
          <a:p>
            <a:r>
              <a:rPr lang="en-US"/>
              <a:t>Department of Electrical and Electronics Engineering</a:t>
            </a:r>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BA5E980-1C1E-4513-85B5-75C020A35D3D}" type="datetime1">
              <a:rPr lang="en-US" smtClean="0"/>
              <a:t>10/15/2026</a:t>
            </a:fld>
            <a:endParaRPr lang="en-US"/>
          </a:p>
        </p:txBody>
      </p:sp>
      <p:sp>
        <p:nvSpPr>
          <p:cNvPr id="5" name="Footer Placeholder 4"/>
          <p:cNvSpPr>
            <a:spLocks noGrp="1"/>
          </p:cNvSpPr>
          <p:nvPr>
            <p:ph type="ftr" sz="quarter" idx="11"/>
          </p:nvPr>
        </p:nvSpPr>
        <p:spPr/>
        <p:txBody>
          <a:bodyPr/>
          <a:lstStyle/>
          <a:p>
            <a:r>
              <a:rPr lang="en-US"/>
              <a:t>Department of Electrical and Electronics Engineering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6BA1640-484D-4D57-A6EC-A09247DA6DEF}" type="datetime1">
              <a:rPr lang="en-US" smtClean="0"/>
              <a:t>10/15/2026</a:t>
            </a:fld>
            <a:endParaRPr lang="en-US"/>
          </a:p>
        </p:txBody>
      </p:sp>
      <p:sp>
        <p:nvSpPr>
          <p:cNvPr id="5" name="Footer Placeholder 4"/>
          <p:cNvSpPr>
            <a:spLocks noGrp="1"/>
          </p:cNvSpPr>
          <p:nvPr>
            <p:ph type="ftr" sz="quarter" idx="11"/>
          </p:nvPr>
        </p:nvSpPr>
        <p:spPr/>
        <p:txBody>
          <a:bodyPr/>
          <a:lstStyle/>
          <a:p>
            <a:r>
              <a:rPr lang="en-US"/>
              <a:t>Department of Electrical and Electronics Engineering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A2D738C1-5CA4-4D62-9FF9-A967F33B25BD}" type="datetime1">
              <a:rPr lang="en-US" smtClean="0"/>
              <a:t>10/15/2026</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r>
              <a:rPr lang="en-US"/>
              <a:t>Department of Electrical and Electronics Engineering</a:t>
            </a:r>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docs.python.org/3/" TargetMode="External"/><Relationship Id="rId2" Type="http://schemas.openxmlformats.org/officeDocument/2006/relationships/hyperlink" Target="https://www.postgresql.org/docs/" TargetMode="External"/><Relationship Id="rId1" Type="http://schemas.openxmlformats.org/officeDocument/2006/relationships/slideLayout" Target="../slideLayouts/slideLayout2.xml"/><Relationship Id="rId4" Type="http://schemas.openxmlformats.org/officeDocument/2006/relationships/hyperlink" Target="https://docs.streamlit.i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38200" y="3147525"/>
            <a:ext cx="7924800" cy="3177075"/>
          </a:xfrm>
        </p:spPr>
        <p:txBody>
          <a:bodyPr>
            <a:normAutofit/>
          </a:bodyPr>
          <a:lstStyle/>
          <a:p>
            <a:endParaRPr lang="en-US" sz="2800" b="1" kern="0" dirty="0">
              <a:solidFill>
                <a:schemeClr val="bg1">
                  <a:lumMod val="50000"/>
                </a:schemeClr>
              </a:solidFill>
              <a:latin typeface="Times New Roman" panose="02020603050405020304" pitchFamily="18" charset="0"/>
              <a:ea typeface="Times New Roman" panose="02020603050405020304" pitchFamily="18" charset="0"/>
            </a:endParaRPr>
          </a:p>
          <a:p>
            <a:r>
              <a:rPr lang="en-US" sz="2800" b="1" kern="0" dirty="0">
                <a:solidFill>
                  <a:schemeClr val="bg1">
                    <a:lumMod val="50000"/>
                  </a:schemeClr>
                </a:solidFill>
                <a:latin typeface="Times New Roman" panose="02020603050405020304" pitchFamily="18" charset="0"/>
                <a:ea typeface="Times New Roman" panose="02020603050405020304" pitchFamily="18" charset="0"/>
              </a:rPr>
              <a:t>Course: Database Management System</a:t>
            </a:r>
            <a:endParaRPr lang="en-US" dirty="0"/>
          </a:p>
          <a:p>
            <a:endParaRPr lang="en-US" dirty="0"/>
          </a:p>
          <a:p>
            <a:r>
              <a:rPr lang="en-US" dirty="0"/>
              <a:t>By</a:t>
            </a:r>
          </a:p>
          <a:p>
            <a:pPr marL="0" marR="0" algn="ctr">
              <a:spcBef>
                <a:spcPts val="1195"/>
              </a:spcBef>
              <a:spcAft>
                <a:spcPts val="0"/>
              </a:spcAft>
            </a:pPr>
            <a:r>
              <a:rPr lang="en-US" sz="1800" dirty="0">
                <a:latin typeface="Times New Roman" panose="02020603050405020304" pitchFamily="18" charset="0"/>
                <a:ea typeface="Times New Roman" panose="02020603050405020304" pitchFamily="18" charset="0"/>
              </a:rPr>
              <a:t>Devish Darne 1262252298</a:t>
            </a:r>
          </a:p>
          <a:p>
            <a:pPr marL="0" marR="0" algn="ctr">
              <a:spcBef>
                <a:spcPts val="1195"/>
              </a:spcBef>
              <a:spcAft>
                <a:spcPts val="0"/>
              </a:spcAft>
            </a:pPr>
            <a:r>
              <a:rPr lang="en-US" sz="1800" dirty="0">
                <a:latin typeface="Times New Roman" panose="02020603050405020304" pitchFamily="18" charset="0"/>
                <a:ea typeface="Times New Roman" panose="02020603050405020304" pitchFamily="18" charset="0"/>
              </a:rPr>
              <a:t>Jeel Bakrania 1262252386</a:t>
            </a:r>
          </a:p>
        </p:txBody>
      </p:sp>
      <p:sp>
        <p:nvSpPr>
          <p:cNvPr id="2" name="Title 1"/>
          <p:cNvSpPr>
            <a:spLocks noGrp="1"/>
          </p:cNvSpPr>
          <p:nvPr>
            <p:ph type="ctrTitle"/>
          </p:nvPr>
        </p:nvSpPr>
        <p:spPr>
          <a:xfrm>
            <a:off x="457200" y="1524550"/>
            <a:ext cx="8534400" cy="1470025"/>
          </a:xfrm>
        </p:spPr>
        <p:txBody>
          <a:bodyPr>
            <a:normAutofit fontScale="90000"/>
          </a:bodyPr>
          <a:lstStyle/>
          <a:p>
            <a:r>
              <a:rPr lang="en-US" b="1" dirty="0"/>
              <a:t>Student College and Stream Preference Analysis</a:t>
            </a:r>
            <a:br>
              <a:rPr lang="en-US" b="1" dirty="0"/>
            </a:br>
            <a:r>
              <a:rPr lang="en-US" b="1" dirty="0"/>
              <a:t>and Recommendation System</a:t>
            </a:r>
            <a:endParaRPr lang="en-US" b="1" dirty="0">
              <a:solidFill>
                <a:schemeClr val="bg1"/>
              </a:solidFill>
            </a:endParaRPr>
          </a:p>
        </p:txBody>
      </p:sp>
      <p:pic>
        <p:nvPicPr>
          <p:cNvPr id="4" name="Picture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8432" y="22860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2C81FA3-C5B7-4C98-A7D0-738D1325CCD6}"/>
              </a:ext>
            </a:extLst>
          </p:cNvPr>
          <p:cNvSpPr txBox="1"/>
          <p:nvPr/>
        </p:nvSpPr>
        <p:spPr>
          <a:xfrm>
            <a:off x="2438400" y="228600"/>
            <a:ext cx="5943600" cy="1077218"/>
          </a:xfrm>
          <a:prstGeom prst="rect">
            <a:avLst/>
          </a:prstGeom>
          <a:noFill/>
        </p:spPr>
        <p:txBody>
          <a:bodyPr wrap="square" rtlCol="0">
            <a:spAutoFit/>
          </a:bodyPr>
          <a:lstStyle/>
          <a:p>
            <a:r>
              <a:rPr lang="en-US" sz="3200" b="1" kern="0" dirty="0">
                <a:solidFill>
                  <a:schemeClr val="bg1">
                    <a:lumMod val="50000"/>
                  </a:schemeClr>
                </a:solidFill>
                <a:effectLst/>
                <a:latin typeface="Times New Roman" panose="02020603050405020304" pitchFamily="18" charset="0"/>
                <a:ea typeface="Times New Roman" panose="02020603050405020304" pitchFamily="18" charset="0"/>
              </a:rPr>
              <a:t>          TY ECE AIML D </a:t>
            </a:r>
          </a:p>
          <a:p>
            <a:pPr algn="ctr"/>
            <a:r>
              <a:rPr lang="en-US" sz="3200" b="1" kern="0" dirty="0">
                <a:solidFill>
                  <a:schemeClr val="bg1">
                    <a:lumMod val="50000"/>
                  </a:schemeClr>
                </a:solidFill>
                <a:latin typeface="Times New Roman" panose="02020603050405020304" pitchFamily="18" charset="0"/>
                <a:ea typeface="Times New Roman" panose="02020603050405020304" pitchFamily="18" charset="0"/>
              </a:rPr>
              <a:t>G1 BATCH</a:t>
            </a:r>
            <a:endParaRPr lang="en-US" sz="3200" b="1" kern="0" dirty="0">
              <a:solidFill>
                <a:schemeClr val="bg1">
                  <a:lumMod val="50000"/>
                </a:schemeClr>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416813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563562"/>
          </a:xfrm>
        </p:spPr>
        <p:txBody>
          <a:bodyPr>
            <a:normAutofit fontScale="90000"/>
          </a:bodyPr>
          <a:lstStyle/>
          <a:p>
            <a:r>
              <a:rPr lang="en-US" dirty="0"/>
              <a:t>Presentation flow</a:t>
            </a:r>
          </a:p>
        </p:txBody>
      </p:sp>
      <p:sp>
        <p:nvSpPr>
          <p:cNvPr id="3" name="Content Placeholder 2"/>
          <p:cNvSpPr>
            <a:spLocks noGrp="1"/>
          </p:cNvSpPr>
          <p:nvPr>
            <p:ph sz="quarter" idx="1"/>
          </p:nvPr>
        </p:nvSpPr>
        <p:spPr>
          <a:xfrm>
            <a:off x="1295400" y="838200"/>
            <a:ext cx="4038600" cy="5486400"/>
          </a:xfrm>
        </p:spPr>
        <p:txBody>
          <a:bodyPr>
            <a:normAutofit fontScale="92500" lnSpcReduction="10000"/>
          </a:bodyPr>
          <a:lstStyle/>
          <a:p>
            <a:pPr marL="177800" marR="1384935" indent="0" algn="just">
              <a:spcBef>
                <a:spcPts val="0"/>
              </a:spcBef>
              <a:buNone/>
            </a:pPr>
            <a:endParaRPr lang="en-US" sz="1000" dirty="0">
              <a:solidFill>
                <a:srgbClr val="000000"/>
              </a:solidFill>
              <a:latin typeface="Times New Roman" panose="02020603050405020304" pitchFamily="18" charset="0"/>
              <a:ea typeface="Times New Roman" panose="02020603050405020304" pitchFamily="18" charset="0"/>
            </a:endParaRPr>
          </a:p>
          <a:p>
            <a:pPr>
              <a:buFont typeface="+mj-lt"/>
              <a:buAutoNum type="arabicPeriod"/>
            </a:pPr>
            <a:r>
              <a:rPr lang="en-US" sz="1600" b="1" dirty="0"/>
              <a:t>Introduction</a:t>
            </a:r>
            <a:endParaRPr lang="en-US" sz="1600" dirty="0"/>
          </a:p>
          <a:p>
            <a:pPr lvl="1">
              <a:buFont typeface="+mj-lt"/>
              <a:buAutoNum type="arabicPeriod"/>
            </a:pPr>
            <a:r>
              <a:rPr lang="en-US" sz="1600" dirty="0"/>
              <a:t>Brief overview of the project and problem statement</a:t>
            </a:r>
          </a:p>
          <a:p>
            <a:pPr>
              <a:buFont typeface="+mj-lt"/>
              <a:buAutoNum type="arabicPeriod"/>
            </a:pPr>
            <a:r>
              <a:rPr lang="en-US" sz="1600" b="1" dirty="0"/>
              <a:t>Project Aims and Objectives</a:t>
            </a:r>
            <a:endParaRPr lang="en-US" sz="1600" dirty="0"/>
          </a:p>
          <a:p>
            <a:pPr lvl="1">
              <a:buFont typeface="+mj-lt"/>
              <a:buAutoNum type="arabicPeriod"/>
            </a:pPr>
            <a:r>
              <a:rPr lang="en-US" sz="1600" dirty="0"/>
              <a:t>Key goals and intended outcomes</a:t>
            </a:r>
          </a:p>
          <a:p>
            <a:pPr>
              <a:buFont typeface="+mj-lt"/>
              <a:buAutoNum type="arabicPeriod"/>
            </a:pPr>
            <a:r>
              <a:rPr lang="en-US" sz="1600" b="1" dirty="0"/>
              <a:t>Background &amp; Existing System</a:t>
            </a:r>
            <a:endParaRPr lang="en-US" sz="1600" dirty="0"/>
          </a:p>
          <a:p>
            <a:pPr lvl="1">
              <a:buFont typeface="+mj-lt"/>
              <a:buAutoNum type="arabicPeriod"/>
            </a:pPr>
            <a:r>
              <a:rPr lang="en-US" sz="1600" dirty="0"/>
              <a:t>Current situation and its limitations</a:t>
            </a:r>
          </a:p>
          <a:p>
            <a:pPr>
              <a:buFont typeface="+mj-lt"/>
              <a:buAutoNum type="arabicPeriod"/>
            </a:pPr>
            <a:r>
              <a:rPr lang="en-US" sz="1600" b="1" dirty="0"/>
              <a:t>Proposed System</a:t>
            </a:r>
            <a:endParaRPr lang="en-US" sz="1600" dirty="0"/>
          </a:p>
          <a:p>
            <a:pPr lvl="1">
              <a:buFont typeface="+mj-lt"/>
              <a:buAutoNum type="arabicPeriod"/>
            </a:pPr>
            <a:r>
              <a:rPr lang="en-US" sz="1600" dirty="0"/>
              <a:t>Features and improvements over the existing system</a:t>
            </a:r>
          </a:p>
          <a:p>
            <a:pPr>
              <a:buFont typeface="+mj-lt"/>
              <a:buAutoNum type="arabicPeriod"/>
            </a:pPr>
            <a:r>
              <a:rPr lang="en-US" sz="1600" b="1" dirty="0"/>
              <a:t>Software Requirements &amp; Tools Used</a:t>
            </a:r>
            <a:endParaRPr lang="en-US" sz="1600" dirty="0"/>
          </a:p>
          <a:p>
            <a:pPr lvl="1">
              <a:buFont typeface="+mj-lt"/>
              <a:buAutoNum type="arabicPeriod"/>
            </a:pPr>
            <a:r>
              <a:rPr lang="en-US" sz="1600" dirty="0"/>
              <a:t>Hardware/software specifications</a:t>
            </a:r>
          </a:p>
          <a:p>
            <a:pPr lvl="1">
              <a:buFont typeface="+mj-lt"/>
              <a:buAutoNum type="arabicPeriod"/>
            </a:pPr>
            <a:r>
              <a:rPr lang="en-US" sz="1600" dirty="0"/>
              <a:t>Development tools, frameworks, and database</a:t>
            </a:r>
          </a:p>
          <a:p>
            <a:pPr>
              <a:buFont typeface="+mj-lt"/>
              <a:buAutoNum type="arabicPeriod"/>
            </a:pPr>
            <a:r>
              <a:rPr lang="en-US" sz="1600" b="1" dirty="0"/>
              <a:t>System Design</a:t>
            </a:r>
            <a:endParaRPr lang="en-US" sz="1600" dirty="0"/>
          </a:p>
          <a:p>
            <a:pPr lvl="1">
              <a:buFont typeface="+mj-lt"/>
              <a:buAutoNum type="arabicPeriod"/>
            </a:pPr>
            <a:r>
              <a:rPr lang="en-US" sz="1600" b="1" dirty="0"/>
              <a:t>Front-End Design</a:t>
            </a:r>
            <a:r>
              <a:rPr lang="en-US" sz="1600" dirty="0"/>
              <a:t> (UI/UX, user interaction flow)</a:t>
            </a:r>
          </a:p>
          <a:p>
            <a:pPr lvl="1">
              <a:buFont typeface="+mj-lt"/>
              <a:buAutoNum type="arabicPeriod"/>
            </a:pPr>
            <a:r>
              <a:rPr lang="en-US" sz="1600" b="1" dirty="0"/>
              <a:t>Back-End Design</a:t>
            </a:r>
            <a:r>
              <a:rPr lang="en-US" sz="1600" dirty="0"/>
              <a:t> (server logic, database connectivity, APIs)</a:t>
            </a:r>
          </a:p>
          <a:p>
            <a:pPr lvl="1">
              <a:buFont typeface="+mj-lt"/>
              <a:buAutoNum type="arabicPeriod"/>
            </a:pPr>
            <a:r>
              <a:rPr lang="en-US" sz="1600" b="1" dirty="0"/>
              <a:t>ER Diagram</a:t>
            </a:r>
            <a:r>
              <a:rPr lang="en-US" sz="1600" dirty="0"/>
              <a:t> (database relationships)</a:t>
            </a:r>
          </a:p>
          <a:p>
            <a:pPr lvl="1">
              <a:buFont typeface="+mj-lt"/>
              <a:buAutoNum type="arabicPeriod"/>
            </a:pPr>
            <a:r>
              <a:rPr lang="en-US" sz="1600" b="1" dirty="0"/>
              <a:t>Table Design (Schema)</a:t>
            </a:r>
            <a:endParaRPr lang="en-US" sz="1600" dirty="0"/>
          </a:p>
          <a:p>
            <a:endParaRPr lang="en-US" sz="1000" dirty="0"/>
          </a:p>
        </p:txBody>
      </p:sp>
      <p:pic>
        <p:nvPicPr>
          <p:cNvPr id="4" name="Picture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4">
            <a:extLst>
              <a:ext uri="{FF2B5EF4-FFF2-40B4-BE49-F238E27FC236}">
                <a16:creationId xmlns:a16="http://schemas.microsoft.com/office/drawing/2014/main" id="{8849C6BA-CFDD-4E52-9057-D4BB53FDE2A0}"/>
              </a:ext>
            </a:extLst>
          </p:cNvPr>
          <p:cNvSpPr>
            <a:spLocks noGrp="1"/>
          </p:cNvSpPr>
          <p:nvPr>
            <p:ph type="dt" sz="half" idx="10"/>
          </p:nvPr>
        </p:nvSpPr>
        <p:spPr/>
        <p:txBody>
          <a:bodyPr/>
          <a:lstStyle/>
          <a:p>
            <a:fld id="{679A6765-1D91-432C-8446-4F0D15AF67BA}" type="datetime1">
              <a:rPr lang="en-US" smtClean="0"/>
              <a:t>10/15/2026</a:t>
            </a:fld>
            <a:endParaRPr lang="en-US"/>
          </a:p>
        </p:txBody>
      </p:sp>
      <p:sp>
        <p:nvSpPr>
          <p:cNvPr id="6" name="Footer Placeholder 5">
            <a:extLst>
              <a:ext uri="{FF2B5EF4-FFF2-40B4-BE49-F238E27FC236}">
                <a16:creationId xmlns:a16="http://schemas.microsoft.com/office/drawing/2014/main" id="{E88892CD-74FA-44FA-8D48-1349CDA20A4B}"/>
              </a:ext>
            </a:extLst>
          </p:cNvPr>
          <p:cNvSpPr>
            <a:spLocks noGrp="1"/>
          </p:cNvSpPr>
          <p:nvPr>
            <p:ph type="ftr" sz="quarter" idx="11"/>
          </p:nvPr>
        </p:nvSpPr>
        <p:spPr/>
        <p:txBody>
          <a:bodyPr/>
          <a:lstStyle/>
          <a:p>
            <a:r>
              <a:rPr lang="en-US" dirty="0"/>
              <a:t>Department of Electrical and Electronics Engineering</a:t>
            </a:r>
          </a:p>
        </p:txBody>
      </p:sp>
      <p:sp>
        <p:nvSpPr>
          <p:cNvPr id="7" name="Slide Number Placeholder 6">
            <a:extLst>
              <a:ext uri="{FF2B5EF4-FFF2-40B4-BE49-F238E27FC236}">
                <a16:creationId xmlns:a16="http://schemas.microsoft.com/office/drawing/2014/main" id="{F663FDF5-853C-4882-91BE-8F6025F4FE9E}"/>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9" name="TextBox 8">
            <a:extLst>
              <a:ext uri="{FF2B5EF4-FFF2-40B4-BE49-F238E27FC236}">
                <a16:creationId xmlns:a16="http://schemas.microsoft.com/office/drawing/2014/main" id="{15ED52F4-65A8-2BC9-8F55-2D65B2BFCDD7}"/>
              </a:ext>
            </a:extLst>
          </p:cNvPr>
          <p:cNvSpPr txBox="1"/>
          <p:nvPr/>
        </p:nvSpPr>
        <p:spPr>
          <a:xfrm>
            <a:off x="5257800" y="1066800"/>
            <a:ext cx="3505200" cy="2893100"/>
          </a:xfrm>
          <a:prstGeom prst="rect">
            <a:avLst/>
          </a:prstGeom>
          <a:noFill/>
        </p:spPr>
        <p:txBody>
          <a:bodyPr wrap="square">
            <a:spAutoFit/>
          </a:bodyPr>
          <a:lstStyle/>
          <a:p>
            <a:pPr marL="342900" indent="-342900">
              <a:buFont typeface="+mj-lt"/>
              <a:buAutoNum type="arabicPeriod" startAt="7"/>
            </a:pPr>
            <a:r>
              <a:rPr lang="en-US" sz="1400" b="1" dirty="0"/>
              <a:t>System Implementation</a:t>
            </a:r>
            <a:endParaRPr lang="en-US" sz="1400" dirty="0"/>
          </a:p>
          <a:p>
            <a:pPr lvl="1">
              <a:buFont typeface="+mj-lt"/>
              <a:buAutoNum type="arabicPeriod"/>
            </a:pPr>
            <a:r>
              <a:rPr lang="en-US" sz="1400" dirty="0"/>
              <a:t>Integration of front-end, back-end, and database</a:t>
            </a:r>
          </a:p>
          <a:p>
            <a:pPr lvl="1">
              <a:buFont typeface="+mj-lt"/>
              <a:buAutoNum type="arabicPeriod"/>
            </a:pPr>
            <a:r>
              <a:rPr lang="en-US" sz="1400" dirty="0"/>
              <a:t>Key modules and workflows</a:t>
            </a:r>
          </a:p>
          <a:p>
            <a:pPr>
              <a:buFont typeface="+mj-lt"/>
              <a:buAutoNum type="arabicPeriod" startAt="7"/>
            </a:pPr>
            <a:r>
              <a:rPr lang="en-US" sz="1400" b="1" dirty="0"/>
              <a:t>Results &amp; Discussion</a:t>
            </a:r>
            <a:endParaRPr lang="en-US" sz="1400" dirty="0"/>
          </a:p>
          <a:p>
            <a:pPr lvl="1">
              <a:buFont typeface="+mj-lt"/>
              <a:buAutoNum type="arabicPeriod"/>
            </a:pPr>
            <a:r>
              <a:rPr lang="en-US" sz="1400" dirty="0"/>
              <a:t>Outputs, screenshots of the website, and performance analysis</a:t>
            </a:r>
          </a:p>
          <a:p>
            <a:pPr>
              <a:buFont typeface="+mj-lt"/>
              <a:buAutoNum type="arabicPeriod" startAt="7"/>
            </a:pPr>
            <a:r>
              <a:rPr lang="en-US" sz="1400" b="1" dirty="0"/>
              <a:t>Applications</a:t>
            </a:r>
            <a:endParaRPr lang="en-US" sz="1400" dirty="0"/>
          </a:p>
          <a:p>
            <a:pPr lvl="1">
              <a:buFont typeface="+mj-lt"/>
              <a:buAutoNum type="arabicPeriod"/>
            </a:pPr>
            <a:r>
              <a:rPr lang="en-US" sz="1400" dirty="0"/>
              <a:t>Real-world usage and industry relevance</a:t>
            </a:r>
          </a:p>
          <a:p>
            <a:pPr>
              <a:buFont typeface="+mj-lt"/>
              <a:buAutoNum type="arabicPeriod" startAt="7"/>
            </a:pPr>
            <a:r>
              <a:rPr lang="en-US" sz="1400" b="1" dirty="0"/>
              <a:t>Conclusion &amp; Future Scope</a:t>
            </a:r>
            <a:endParaRPr lang="en-US" sz="1400" dirty="0"/>
          </a:p>
          <a:p>
            <a:pPr lvl="1">
              <a:buFont typeface="+mj-lt"/>
              <a:buAutoNum type="arabicPeriod"/>
            </a:pPr>
            <a:r>
              <a:rPr lang="en-US" sz="1400" dirty="0"/>
              <a:t>Summary and possible extensions</a:t>
            </a:r>
          </a:p>
          <a:p>
            <a:pPr>
              <a:buFont typeface="+mj-lt"/>
              <a:buAutoNum type="arabicPeriod" startAt="7"/>
            </a:pPr>
            <a:r>
              <a:rPr lang="en-US" sz="1400" b="1" dirty="0"/>
              <a:t>References</a:t>
            </a:r>
            <a:endParaRPr lang="en-US" sz="1400" dirty="0"/>
          </a:p>
          <a:p>
            <a:pPr lvl="1"/>
            <a:r>
              <a:rPr lang="en-US" sz="1400" dirty="0"/>
              <a:t>Sources, research papers, tools consulted</a:t>
            </a:r>
          </a:p>
        </p:txBody>
      </p:sp>
    </p:spTree>
    <p:extLst>
      <p:ext uri="{BB962C8B-B14F-4D97-AF65-F5344CB8AC3E}">
        <p14:creationId xmlns:p14="http://schemas.microsoft.com/office/powerpoint/2010/main" val="1580870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br>
              <a:rPr lang="en-US" dirty="0"/>
            </a:br>
            <a:r>
              <a:rPr lang="en-US" u="sng" dirty="0"/>
              <a:t>Introduction</a:t>
            </a:r>
          </a:p>
        </p:txBody>
      </p:sp>
      <p:sp>
        <p:nvSpPr>
          <p:cNvPr id="5" name="Date Placeholder 4">
            <a:extLst>
              <a:ext uri="{FF2B5EF4-FFF2-40B4-BE49-F238E27FC236}">
                <a16:creationId xmlns:a16="http://schemas.microsoft.com/office/drawing/2014/main" id="{808EE047-9D00-4297-AE2A-FDFC35CFC58A}"/>
              </a:ext>
            </a:extLst>
          </p:cNvPr>
          <p:cNvSpPr>
            <a:spLocks noGrp="1"/>
          </p:cNvSpPr>
          <p:nvPr>
            <p:ph type="dt" sz="half" idx="10"/>
          </p:nvPr>
        </p:nvSpPr>
        <p:spPr/>
        <p:txBody>
          <a:bodyPr/>
          <a:lstStyle/>
          <a:p>
            <a:fld id="{551408E3-938A-4B16-B411-E08D17ED5EA2}" type="datetime1">
              <a:rPr lang="en-US" smtClean="0"/>
              <a:t>10/15/2026</a:t>
            </a:fld>
            <a:endParaRPr lang="en-US"/>
          </a:p>
        </p:txBody>
      </p:sp>
      <p:sp>
        <p:nvSpPr>
          <p:cNvPr id="6" name="Footer Placeholder 5">
            <a:extLst>
              <a:ext uri="{FF2B5EF4-FFF2-40B4-BE49-F238E27FC236}">
                <a16:creationId xmlns:a16="http://schemas.microsoft.com/office/drawing/2014/main" id="{7AD91CD3-194B-4C92-9C7B-31622B30E5C2}"/>
              </a:ext>
            </a:extLst>
          </p:cNvPr>
          <p:cNvSpPr>
            <a:spLocks noGrp="1"/>
          </p:cNvSpPr>
          <p:nvPr>
            <p:ph type="ftr" sz="quarter" idx="11"/>
          </p:nvPr>
        </p:nvSpPr>
        <p:spPr/>
        <p:txBody>
          <a:bodyPr/>
          <a:lstStyle/>
          <a:p>
            <a:r>
              <a:rPr lang="en-US"/>
              <a:t>Department of Electrical and Electronics Engineering</a:t>
            </a:r>
          </a:p>
        </p:txBody>
      </p:sp>
      <p:sp>
        <p:nvSpPr>
          <p:cNvPr id="7" name="Slide Number Placeholder 6">
            <a:extLst>
              <a:ext uri="{FF2B5EF4-FFF2-40B4-BE49-F238E27FC236}">
                <a16:creationId xmlns:a16="http://schemas.microsoft.com/office/drawing/2014/main" id="{220C9B6C-E5E2-4517-B410-5B195F5691D4}"/>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9" name="Content Placeholder 8">
            <a:extLst>
              <a:ext uri="{FF2B5EF4-FFF2-40B4-BE49-F238E27FC236}">
                <a16:creationId xmlns:a16="http://schemas.microsoft.com/office/drawing/2014/main" id="{71F14831-3A79-96B5-C10F-326C7F8279A4}"/>
              </a:ext>
            </a:extLst>
          </p:cNvPr>
          <p:cNvSpPr>
            <a:spLocks noGrp="1"/>
          </p:cNvSpPr>
          <p:nvPr>
            <p:ph sz="quarter" idx="1"/>
          </p:nvPr>
        </p:nvSpPr>
        <p:spPr/>
        <p:txBody>
          <a:bodyPr>
            <a:normAutofit fontScale="77500" lnSpcReduction="20000"/>
          </a:bodyPr>
          <a:lstStyle/>
          <a:p>
            <a:r>
              <a:rPr lang="en-US" b="1" dirty="0"/>
              <a:t>Project Overview</a:t>
            </a:r>
          </a:p>
          <a:p>
            <a:pPr marL="0" indent="0">
              <a:buNone/>
            </a:pPr>
            <a:r>
              <a:rPr lang="en-US" dirty="0"/>
              <a:t>The </a:t>
            </a:r>
            <a:r>
              <a:rPr lang="en-US" b="1" dirty="0"/>
              <a:t>Student College and Stream Preference Analysis and Recommendation System</a:t>
            </a:r>
            <a:r>
              <a:rPr lang="en-US" dirty="0"/>
              <a:t> is an educational decision-support application developed using Python, PostgreSQL, and Stream lit. It analyzes student preferences to identify popular colleges, preferred academic streams, and frequently selected college–stream combinations. The system also generates recommendations using frequency-based and ranking-based logic.</a:t>
            </a:r>
          </a:p>
          <a:p>
            <a:r>
              <a:rPr lang="en-US" b="1" dirty="0"/>
              <a:t>Problem Statement</a:t>
            </a:r>
          </a:p>
          <a:p>
            <a:pPr marL="0" indent="0">
              <a:buNone/>
            </a:pPr>
            <a:r>
              <a:rPr lang="en-US" dirty="0"/>
              <a:t>Choosing the right college and academic stream can be a complex and time-consuming process.</a:t>
            </a:r>
          </a:p>
          <a:p>
            <a:pPr marL="0" indent="0">
              <a:buNone/>
            </a:pPr>
            <a:r>
              <a:rPr lang="en-US" dirty="0"/>
              <a:t>Students must compare multiple preferences and academic options to make informed decisions.</a:t>
            </a:r>
          </a:p>
          <a:p>
            <a:pPr marL="0" indent="0">
              <a:buNone/>
            </a:pPr>
            <a:r>
              <a:rPr lang="en-US" dirty="0"/>
              <a:t>Manual analysis of student preferences makes it difficult to identify trends and popular choices.</a:t>
            </a:r>
          </a:p>
          <a:p>
            <a:pPr marL="0" indent="0">
              <a:buNone/>
            </a:pPr>
            <a:r>
              <a:rPr lang="en-US" dirty="0"/>
              <a:t>A centralized, automated system is needed to analyze preference data and provide meaningful recommendations.</a:t>
            </a:r>
          </a:p>
          <a:p>
            <a:pPr marL="0" indent="0">
              <a:buNone/>
            </a:pPr>
            <a:endParaRPr lang="en-US" dirty="0"/>
          </a:p>
          <a:p>
            <a:endParaRPr lang="en-IN" dirty="0"/>
          </a:p>
        </p:txBody>
      </p:sp>
      <p:pic>
        <p:nvPicPr>
          <p:cNvPr id="4" name="Picture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35366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81C18-594F-4E11-8812-132C20C5DF20}"/>
              </a:ext>
            </a:extLst>
          </p:cNvPr>
          <p:cNvSpPr>
            <a:spLocks noGrp="1"/>
          </p:cNvSpPr>
          <p:nvPr>
            <p:ph type="title"/>
          </p:nvPr>
        </p:nvSpPr>
        <p:spPr/>
        <p:txBody>
          <a:bodyPr>
            <a:normAutofit fontScale="90000"/>
          </a:bodyPr>
          <a:lstStyle/>
          <a:p>
            <a:pPr algn="ctr"/>
            <a:r>
              <a:rPr lang="en-US" b="1" u="sng" dirty="0"/>
              <a:t>Project Aims and Objectives</a:t>
            </a:r>
            <a:br>
              <a:rPr lang="en-US" u="sng" dirty="0"/>
            </a:br>
            <a:endParaRPr lang="en-US" u="sng" dirty="0"/>
          </a:p>
        </p:txBody>
      </p:sp>
      <p:sp>
        <p:nvSpPr>
          <p:cNvPr id="3" name="Date Placeholder 2">
            <a:extLst>
              <a:ext uri="{FF2B5EF4-FFF2-40B4-BE49-F238E27FC236}">
                <a16:creationId xmlns:a16="http://schemas.microsoft.com/office/drawing/2014/main" id="{6F9F2BE7-B7F7-4251-A65D-8E94010FF82B}"/>
              </a:ext>
            </a:extLst>
          </p:cNvPr>
          <p:cNvSpPr>
            <a:spLocks noGrp="1"/>
          </p:cNvSpPr>
          <p:nvPr>
            <p:ph type="dt" sz="half" idx="10"/>
          </p:nvPr>
        </p:nvSpPr>
        <p:spPr/>
        <p:txBody>
          <a:bodyPr/>
          <a:lstStyle/>
          <a:p>
            <a:fld id="{99A29082-C710-4DFF-8B32-68384993A23E}" type="datetime1">
              <a:rPr lang="en-US" smtClean="0"/>
              <a:t>10/15/2026</a:t>
            </a:fld>
            <a:endParaRPr lang="en-US"/>
          </a:p>
        </p:txBody>
      </p:sp>
      <p:sp>
        <p:nvSpPr>
          <p:cNvPr id="4" name="Footer Placeholder 3">
            <a:extLst>
              <a:ext uri="{FF2B5EF4-FFF2-40B4-BE49-F238E27FC236}">
                <a16:creationId xmlns:a16="http://schemas.microsoft.com/office/drawing/2014/main" id="{96028944-CFAC-4C0A-952C-4DE4C17AF953}"/>
              </a:ext>
            </a:extLst>
          </p:cNvPr>
          <p:cNvSpPr>
            <a:spLocks noGrp="1"/>
          </p:cNvSpPr>
          <p:nvPr>
            <p:ph type="ftr" sz="quarter" idx="11"/>
          </p:nvPr>
        </p:nvSpPr>
        <p:spPr/>
        <p:txBody>
          <a:bodyPr/>
          <a:lstStyle/>
          <a:p>
            <a:r>
              <a:rPr lang="en-US"/>
              <a:t>Department of Electrical and Electronics Engineering</a:t>
            </a:r>
            <a:endParaRPr lang="en-US" dirty="0"/>
          </a:p>
        </p:txBody>
      </p:sp>
      <p:sp>
        <p:nvSpPr>
          <p:cNvPr id="5" name="Content Placeholder 4">
            <a:extLst>
              <a:ext uri="{FF2B5EF4-FFF2-40B4-BE49-F238E27FC236}">
                <a16:creationId xmlns:a16="http://schemas.microsoft.com/office/drawing/2014/main" id="{C8213E80-31AF-4D1F-9C1A-CC80D383E1E3}"/>
              </a:ext>
            </a:extLst>
          </p:cNvPr>
          <p:cNvSpPr>
            <a:spLocks noGrp="1"/>
          </p:cNvSpPr>
          <p:nvPr>
            <p:ph sz="quarter" idx="1"/>
          </p:nvPr>
        </p:nvSpPr>
        <p:spPr/>
        <p:txBody>
          <a:bodyPr>
            <a:normAutofit fontScale="62500" lnSpcReduction="20000"/>
          </a:bodyPr>
          <a:lstStyle/>
          <a:p>
            <a:r>
              <a:rPr lang="en-US" b="1" u="sng" dirty="0"/>
              <a:t>Aim</a:t>
            </a:r>
          </a:p>
          <a:p>
            <a:pPr marL="0" indent="0">
              <a:buNone/>
            </a:pPr>
            <a:r>
              <a:rPr lang="en-US" dirty="0"/>
              <a:t>To develop an integrated, data-driven system that analyzes student college and academic stream preferences and generates recommendations to support informed educational decision-making.</a:t>
            </a:r>
          </a:p>
          <a:p>
            <a:r>
              <a:rPr lang="en-US" b="1" u="sng" dirty="0"/>
              <a:t>Key Objectives</a:t>
            </a:r>
          </a:p>
          <a:p>
            <a:pPr marL="0" indent="0">
              <a:buNone/>
            </a:pPr>
            <a:r>
              <a:rPr lang="en-US" b="1" dirty="0"/>
              <a:t>Database Management:</a:t>
            </a:r>
            <a:r>
              <a:rPr lang="en-US" dirty="0"/>
              <a:t> Store and manage student preference records using PostgreSQL.</a:t>
            </a:r>
          </a:p>
          <a:p>
            <a:pPr marL="0" indent="0">
              <a:buNone/>
            </a:pPr>
            <a:r>
              <a:rPr lang="en-US" b="1" dirty="0"/>
              <a:t>Preference Analysis:</a:t>
            </a:r>
            <a:r>
              <a:rPr lang="en-US" dirty="0"/>
              <a:t> Use Python to analyze student preferences and identify meaningful trends.</a:t>
            </a:r>
          </a:p>
          <a:p>
            <a:pPr marL="0" indent="0">
              <a:buNone/>
            </a:pPr>
            <a:r>
              <a:rPr lang="en-US" b="1" dirty="0"/>
              <a:t>Priority Distribution:</a:t>
            </a:r>
            <a:r>
              <a:rPr lang="en-US" dirty="0"/>
              <a:t> Examine preference rankings and identify the relative importance of student choices.</a:t>
            </a:r>
          </a:p>
          <a:p>
            <a:pPr marL="0" indent="0">
              <a:buNone/>
            </a:pPr>
            <a:r>
              <a:rPr lang="en-US" b="1" dirty="0"/>
              <a:t>Popular Choice Identification:</a:t>
            </a:r>
            <a:r>
              <a:rPr lang="en-US" dirty="0"/>
              <a:t> Determine the most frequently preferred colleges and academic streams.</a:t>
            </a:r>
          </a:p>
          <a:p>
            <a:pPr marL="0" indent="0">
              <a:buNone/>
            </a:pPr>
            <a:r>
              <a:rPr lang="en-US" b="1" dirty="0"/>
              <a:t>Recommendation Generation:</a:t>
            </a:r>
            <a:r>
              <a:rPr lang="en-US" dirty="0"/>
              <a:t> Rank college–stream combinations using frequency- and ranking-based logic.</a:t>
            </a:r>
          </a:p>
          <a:p>
            <a:pPr marL="0" indent="0">
              <a:buNone/>
            </a:pPr>
            <a:r>
              <a:rPr lang="en-US" b="1" dirty="0"/>
              <a:t>Data Enhancement:</a:t>
            </a:r>
            <a:r>
              <a:rPr lang="en-US" dirty="0"/>
              <a:t> Incorporate additional attributes such as Class XII score, gender, and age for further analysis.</a:t>
            </a:r>
          </a:p>
          <a:p>
            <a:r>
              <a:rPr lang="en-US" b="1" u="sng" dirty="0"/>
              <a:t>Intended Outcomes</a:t>
            </a:r>
          </a:p>
          <a:p>
            <a:pPr marL="0" indent="0">
              <a:buNone/>
            </a:pPr>
            <a:r>
              <a:rPr lang="en-US" dirty="0"/>
              <a:t>Simplify the exploration of college and stream preferences.</a:t>
            </a:r>
          </a:p>
          <a:p>
            <a:pPr marL="0" indent="0">
              <a:buNone/>
            </a:pPr>
            <a:r>
              <a:rPr lang="en-US" dirty="0"/>
              <a:t>Provide an interactive platform for data-driven educational decision support.</a:t>
            </a:r>
          </a:p>
          <a:p>
            <a:pPr marL="0" indent="0">
              <a:buNone/>
            </a:pPr>
            <a:r>
              <a:rPr lang="en-US" dirty="0"/>
              <a:t>Establish a foundation for future personalized and machine-learning-based recommendations.</a:t>
            </a:r>
          </a:p>
          <a:p>
            <a:endParaRPr lang="en-US" dirty="0"/>
          </a:p>
        </p:txBody>
      </p:sp>
      <p:sp>
        <p:nvSpPr>
          <p:cNvPr id="6" name="Slide Number Placeholder 5">
            <a:extLst>
              <a:ext uri="{FF2B5EF4-FFF2-40B4-BE49-F238E27FC236}">
                <a16:creationId xmlns:a16="http://schemas.microsoft.com/office/drawing/2014/main" id="{7BFFF498-D7DC-4FFE-95D5-3AE33F4B4EA4}"/>
              </a:ext>
            </a:extLst>
          </p:cNvPr>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829822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8B942-BAAD-4AC2-B0DE-57D0FB2E1B3C}"/>
              </a:ext>
            </a:extLst>
          </p:cNvPr>
          <p:cNvSpPr>
            <a:spLocks noGrp="1"/>
          </p:cNvSpPr>
          <p:nvPr>
            <p:ph type="title"/>
          </p:nvPr>
        </p:nvSpPr>
        <p:spPr/>
        <p:txBody>
          <a:bodyPr>
            <a:normAutofit fontScale="90000"/>
          </a:bodyPr>
          <a:lstStyle/>
          <a:p>
            <a:pPr algn="ctr"/>
            <a:r>
              <a:rPr lang="en-US" b="1" u="sng" dirty="0"/>
              <a:t>Background &amp; Existing System</a:t>
            </a:r>
            <a:br>
              <a:rPr lang="en-US" u="sng" dirty="0"/>
            </a:br>
            <a:endParaRPr lang="en-US" u="sng" dirty="0"/>
          </a:p>
        </p:txBody>
      </p:sp>
      <p:sp>
        <p:nvSpPr>
          <p:cNvPr id="3" name="Date Placeholder 2">
            <a:extLst>
              <a:ext uri="{FF2B5EF4-FFF2-40B4-BE49-F238E27FC236}">
                <a16:creationId xmlns:a16="http://schemas.microsoft.com/office/drawing/2014/main" id="{93A0CE71-B62D-499D-A382-D71ABE64D0FD}"/>
              </a:ext>
            </a:extLst>
          </p:cNvPr>
          <p:cNvSpPr>
            <a:spLocks noGrp="1"/>
          </p:cNvSpPr>
          <p:nvPr>
            <p:ph type="dt" sz="half" idx="10"/>
          </p:nvPr>
        </p:nvSpPr>
        <p:spPr/>
        <p:txBody>
          <a:bodyPr/>
          <a:lstStyle/>
          <a:p>
            <a:fld id="{A8DFE2F7-900F-4058-ABA6-0A3A2DE97312}" type="datetime1">
              <a:rPr lang="en-US" smtClean="0"/>
              <a:t>10/15/2026</a:t>
            </a:fld>
            <a:endParaRPr lang="en-US"/>
          </a:p>
        </p:txBody>
      </p:sp>
      <p:sp>
        <p:nvSpPr>
          <p:cNvPr id="4" name="Footer Placeholder 3">
            <a:extLst>
              <a:ext uri="{FF2B5EF4-FFF2-40B4-BE49-F238E27FC236}">
                <a16:creationId xmlns:a16="http://schemas.microsoft.com/office/drawing/2014/main" id="{0A447751-71E5-49D7-87A0-9E9343BC9A3D}"/>
              </a:ext>
            </a:extLst>
          </p:cNvPr>
          <p:cNvSpPr>
            <a:spLocks noGrp="1"/>
          </p:cNvSpPr>
          <p:nvPr>
            <p:ph type="ftr" sz="quarter" idx="11"/>
          </p:nvPr>
        </p:nvSpPr>
        <p:spPr/>
        <p:txBody>
          <a:bodyPr/>
          <a:lstStyle/>
          <a:p>
            <a:r>
              <a:rPr lang="en-US"/>
              <a:t>Department of Electrical and Electronics Engineering</a:t>
            </a:r>
          </a:p>
        </p:txBody>
      </p:sp>
      <p:sp>
        <p:nvSpPr>
          <p:cNvPr id="5" name="Content Placeholder 4">
            <a:extLst>
              <a:ext uri="{FF2B5EF4-FFF2-40B4-BE49-F238E27FC236}">
                <a16:creationId xmlns:a16="http://schemas.microsoft.com/office/drawing/2014/main" id="{7CA790E7-DFB5-4A81-B1A1-F2BDE0E5EDC5}"/>
              </a:ext>
            </a:extLst>
          </p:cNvPr>
          <p:cNvSpPr>
            <a:spLocks noGrp="1"/>
          </p:cNvSpPr>
          <p:nvPr>
            <p:ph sz="quarter" idx="1"/>
          </p:nvPr>
        </p:nvSpPr>
        <p:spPr/>
        <p:txBody>
          <a:bodyPr>
            <a:normAutofit fontScale="77500" lnSpcReduction="20000"/>
          </a:bodyPr>
          <a:lstStyle/>
          <a:p>
            <a:r>
              <a:rPr lang="en-US" b="1" u="sng" dirty="0"/>
              <a:t>Background</a:t>
            </a:r>
          </a:p>
          <a:p>
            <a:pPr marL="0" indent="0">
              <a:buNone/>
            </a:pPr>
            <a:r>
              <a:rPr lang="en-US" dirty="0"/>
              <a:t>Selecting an appropriate college and academic stream is an important decision that influences a student's educational and professional future. Students consider multiple factors, including academic performance, personal preferences, college popularity, and stream selection. </a:t>
            </a:r>
          </a:p>
          <a:p>
            <a:r>
              <a:rPr lang="en-US" b="1" u="sng" dirty="0"/>
              <a:t>Limitations of the Existing System</a:t>
            </a:r>
          </a:p>
          <a:p>
            <a:pPr marL="0" indent="0">
              <a:buNone/>
            </a:pPr>
            <a:r>
              <a:rPr lang="en-US" b="1" dirty="0"/>
              <a:t>Time-Consuming:</a:t>
            </a:r>
            <a:r>
              <a:rPr lang="en-US" dirty="0"/>
              <a:t> Requires considerable effort to compare student preferences.</a:t>
            </a:r>
          </a:p>
          <a:p>
            <a:pPr marL="0" indent="0">
              <a:buNone/>
            </a:pPr>
            <a:r>
              <a:rPr lang="en-US" b="1" dirty="0"/>
              <a:t>Limited Analytical Insights:</a:t>
            </a:r>
            <a:r>
              <a:rPr lang="en-US" dirty="0"/>
              <a:t> Difficult to identify trends across large datasets manually.</a:t>
            </a:r>
          </a:p>
          <a:p>
            <a:pPr marL="0" indent="0">
              <a:buNone/>
            </a:pPr>
            <a:r>
              <a:rPr lang="en-US" b="1" dirty="0"/>
              <a:t>Lack of Automation:</a:t>
            </a:r>
            <a:r>
              <a:rPr lang="en-US" dirty="0"/>
              <a:t> Preference analysis and ranking require manual effort.</a:t>
            </a:r>
          </a:p>
          <a:p>
            <a:pPr marL="0" indent="0">
              <a:buNone/>
            </a:pPr>
            <a:r>
              <a:rPr lang="en-US" b="1" dirty="0"/>
              <a:t>Limited Visualization:</a:t>
            </a:r>
            <a:r>
              <a:rPr lang="en-US" dirty="0"/>
              <a:t> Preference patterns may not be presented through interactive dashboards.</a:t>
            </a:r>
          </a:p>
          <a:p>
            <a:pPr marL="0" indent="0">
              <a:buNone/>
            </a:pPr>
            <a:r>
              <a:rPr lang="en-US" b="1" dirty="0"/>
              <a:t>Inconsistent Decision Support:</a:t>
            </a:r>
            <a:r>
              <a:rPr lang="en-US" dirty="0"/>
              <a:t> Comparing multiple college–stream combinations can be challenging.</a:t>
            </a:r>
          </a:p>
        </p:txBody>
      </p:sp>
      <p:sp>
        <p:nvSpPr>
          <p:cNvPr id="6" name="Slide Number Placeholder 5">
            <a:extLst>
              <a:ext uri="{FF2B5EF4-FFF2-40B4-BE49-F238E27FC236}">
                <a16:creationId xmlns:a16="http://schemas.microsoft.com/office/drawing/2014/main" id="{DB3CD594-751C-4568-9042-B2CC5D324109}"/>
              </a:ext>
            </a:extLst>
          </p:cNvPr>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2430235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DD772-FEF7-CFD8-A9B3-D9EEEEDBE4A9}"/>
              </a:ext>
            </a:extLst>
          </p:cNvPr>
          <p:cNvSpPr>
            <a:spLocks noGrp="1"/>
          </p:cNvSpPr>
          <p:nvPr>
            <p:ph type="title"/>
          </p:nvPr>
        </p:nvSpPr>
        <p:spPr/>
        <p:txBody>
          <a:bodyPr anchor="ctr">
            <a:normAutofit/>
          </a:bodyPr>
          <a:lstStyle/>
          <a:p>
            <a:pPr algn="ctr"/>
            <a:r>
              <a:rPr lang="en-IN" u="sng" dirty="0"/>
              <a:t>Proposed Solution</a:t>
            </a:r>
          </a:p>
        </p:txBody>
      </p:sp>
      <p:sp>
        <p:nvSpPr>
          <p:cNvPr id="3" name="Date Placeholder 2">
            <a:extLst>
              <a:ext uri="{FF2B5EF4-FFF2-40B4-BE49-F238E27FC236}">
                <a16:creationId xmlns:a16="http://schemas.microsoft.com/office/drawing/2014/main" id="{70BFE454-0504-F4BA-13F6-DCF8481532BA}"/>
              </a:ext>
            </a:extLst>
          </p:cNvPr>
          <p:cNvSpPr>
            <a:spLocks noGrp="1"/>
          </p:cNvSpPr>
          <p:nvPr>
            <p:ph type="dt" sz="half" idx="10"/>
          </p:nvPr>
        </p:nvSpPr>
        <p:spPr/>
        <p:txBody>
          <a:bodyPr/>
          <a:lstStyle/>
          <a:p>
            <a:fld id="{D8A17782-1209-4799-A160-B341E473A7CD}" type="datetime1">
              <a:rPr lang="en-US" smtClean="0"/>
              <a:t>10/15/2026</a:t>
            </a:fld>
            <a:endParaRPr lang="en-US"/>
          </a:p>
        </p:txBody>
      </p:sp>
      <p:sp>
        <p:nvSpPr>
          <p:cNvPr id="4" name="Footer Placeholder 3">
            <a:extLst>
              <a:ext uri="{FF2B5EF4-FFF2-40B4-BE49-F238E27FC236}">
                <a16:creationId xmlns:a16="http://schemas.microsoft.com/office/drawing/2014/main" id="{5D653B59-CCBC-249B-6AA2-EC7EC1135EEF}"/>
              </a:ext>
            </a:extLst>
          </p:cNvPr>
          <p:cNvSpPr>
            <a:spLocks noGrp="1"/>
          </p:cNvSpPr>
          <p:nvPr>
            <p:ph type="ftr" sz="quarter" idx="11"/>
          </p:nvPr>
        </p:nvSpPr>
        <p:spPr/>
        <p:txBody>
          <a:bodyPr/>
          <a:lstStyle/>
          <a:p>
            <a:r>
              <a:rPr lang="en-US"/>
              <a:t>Department of Electrical and Electronics Engineering</a:t>
            </a:r>
          </a:p>
        </p:txBody>
      </p:sp>
      <p:sp>
        <p:nvSpPr>
          <p:cNvPr id="5" name="Slide Number Placeholder 4">
            <a:extLst>
              <a:ext uri="{FF2B5EF4-FFF2-40B4-BE49-F238E27FC236}">
                <a16:creationId xmlns:a16="http://schemas.microsoft.com/office/drawing/2014/main" id="{E5825BC3-201E-9159-57DC-1631D29BF5FE}"/>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6" name="Content Placeholder 5">
            <a:extLst>
              <a:ext uri="{FF2B5EF4-FFF2-40B4-BE49-F238E27FC236}">
                <a16:creationId xmlns:a16="http://schemas.microsoft.com/office/drawing/2014/main" id="{F08B9721-CBBB-655C-39A5-767DAC567690}"/>
              </a:ext>
            </a:extLst>
          </p:cNvPr>
          <p:cNvSpPr>
            <a:spLocks noGrp="1"/>
          </p:cNvSpPr>
          <p:nvPr>
            <p:ph sz="quarter" idx="1"/>
          </p:nvPr>
        </p:nvSpPr>
        <p:spPr/>
        <p:txBody>
          <a:bodyPr>
            <a:normAutofit fontScale="55000" lnSpcReduction="20000"/>
          </a:bodyPr>
          <a:lstStyle/>
          <a:p>
            <a:r>
              <a:rPr lang="en-US" b="1" u="sng" dirty="0"/>
              <a:t>Key Features</a:t>
            </a:r>
          </a:p>
          <a:p>
            <a:pPr marL="0" indent="0">
              <a:buNone/>
            </a:pPr>
            <a:r>
              <a:rPr lang="en-US" b="1" dirty="0"/>
              <a:t>Centralized Database:</a:t>
            </a:r>
            <a:r>
              <a:rPr lang="en-US" dirty="0"/>
              <a:t> Stores and manages student preference records using PostgreSQL.</a:t>
            </a:r>
          </a:p>
          <a:p>
            <a:pPr marL="0" indent="0">
              <a:buNone/>
            </a:pPr>
            <a:r>
              <a:rPr lang="en-US" b="1" dirty="0"/>
              <a:t>Automated Data Analysis:</a:t>
            </a:r>
            <a:r>
              <a:rPr lang="en-US" dirty="0"/>
              <a:t> Processes student data using Python to identify preference patterns and distributions.</a:t>
            </a:r>
          </a:p>
          <a:p>
            <a:pPr marL="0" indent="0">
              <a:buNone/>
            </a:pPr>
            <a:r>
              <a:rPr lang="en-US" b="1" dirty="0"/>
              <a:t>College &amp; Stream Ranking:</a:t>
            </a:r>
            <a:r>
              <a:rPr lang="en-US" dirty="0"/>
              <a:t> Identifies popular colleges, preferred academic streams, and frequently selected combinations.</a:t>
            </a:r>
          </a:p>
          <a:p>
            <a:pPr marL="0" indent="0">
              <a:buNone/>
            </a:pPr>
            <a:r>
              <a:rPr lang="en-US" b="1" dirty="0"/>
              <a:t>Recommendation Engine:</a:t>
            </a:r>
            <a:r>
              <a:rPr lang="en-US" dirty="0"/>
              <a:t> Generates ranked college–stream recommendations based on preference frequency and ranking.</a:t>
            </a:r>
          </a:p>
          <a:p>
            <a:pPr marL="0" indent="0">
              <a:buNone/>
            </a:pPr>
            <a:r>
              <a:rPr lang="en-US" b="1" dirty="0"/>
              <a:t>Interactive Dashboard:</a:t>
            </a:r>
            <a:r>
              <a:rPr lang="en-US" dirty="0"/>
              <a:t> Provides Analysis, Recommendations, and Raw Data tabs using Stream lit.</a:t>
            </a:r>
          </a:p>
          <a:p>
            <a:pPr marL="0" indent="0">
              <a:buNone/>
            </a:pPr>
            <a:r>
              <a:rPr lang="en-US" b="1" dirty="0"/>
              <a:t>Demographic Analysis:</a:t>
            </a:r>
            <a:r>
              <a:rPr lang="en-US" dirty="0"/>
              <a:t> Supports analysis of additional attributes, including Class XII score, gender, and age.</a:t>
            </a:r>
          </a:p>
          <a:p>
            <a:pPr marL="0" indent="0">
              <a:buNone/>
            </a:pPr>
            <a:r>
              <a:rPr lang="en-US" b="1" dirty="0"/>
              <a:t>Data Visualization:</a:t>
            </a:r>
            <a:r>
              <a:rPr lang="en-US" dirty="0"/>
              <a:t> Presents analytical results through charts, graphs, and tables.</a:t>
            </a:r>
          </a:p>
          <a:p>
            <a:r>
              <a:rPr lang="en-US" b="1" u="sng" dirty="0"/>
              <a:t>Improvements Over the Existing System</a:t>
            </a:r>
          </a:p>
          <a:p>
            <a:pPr marL="0" indent="0">
              <a:buNone/>
            </a:pPr>
            <a:r>
              <a:rPr lang="en-US" dirty="0"/>
              <a:t>Reduces manual effort through automated preference analysis.</a:t>
            </a:r>
          </a:p>
          <a:p>
            <a:pPr marL="0" indent="0">
              <a:buNone/>
            </a:pPr>
            <a:r>
              <a:rPr lang="en-US" dirty="0"/>
              <a:t>Makes student preference trends easier to identify and interpret.</a:t>
            </a:r>
          </a:p>
          <a:p>
            <a:pPr marL="0" indent="0">
              <a:buNone/>
            </a:pPr>
            <a:r>
              <a:rPr lang="en-US" dirty="0"/>
              <a:t>Combines database storage, analysis, recommendations, and visualization in one platform.</a:t>
            </a:r>
          </a:p>
          <a:p>
            <a:pPr marL="0" indent="0">
              <a:buNone/>
            </a:pPr>
            <a:r>
              <a:rPr lang="en-US" dirty="0"/>
              <a:t>Enables convenient exploration of results through an interactive interface.</a:t>
            </a:r>
          </a:p>
          <a:p>
            <a:pPr marL="0" indent="0">
              <a:buNone/>
            </a:pPr>
            <a:r>
              <a:rPr lang="en-US" dirty="0"/>
              <a:t>Provides a modular and scalable foundation for future machine-learning integration.</a:t>
            </a:r>
          </a:p>
          <a:p>
            <a:endParaRPr lang="en-IN" dirty="0"/>
          </a:p>
        </p:txBody>
      </p:sp>
    </p:spTree>
    <p:extLst>
      <p:ext uri="{BB962C8B-B14F-4D97-AF65-F5344CB8AC3E}">
        <p14:creationId xmlns:p14="http://schemas.microsoft.com/office/powerpoint/2010/main" val="1153135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4CFFC-4895-EACC-26EF-8310968188EB}"/>
              </a:ext>
            </a:extLst>
          </p:cNvPr>
          <p:cNvSpPr>
            <a:spLocks noGrp="1"/>
          </p:cNvSpPr>
          <p:nvPr>
            <p:ph type="title"/>
          </p:nvPr>
        </p:nvSpPr>
        <p:spPr/>
        <p:txBody>
          <a:bodyPr>
            <a:normAutofit fontScale="90000"/>
          </a:bodyPr>
          <a:lstStyle/>
          <a:p>
            <a:pPr algn="ctr"/>
            <a:r>
              <a:rPr lang="en-US" b="1" u="sng" dirty="0"/>
              <a:t>Software Requirements &amp; Tools Used</a:t>
            </a:r>
            <a:br>
              <a:rPr lang="en-US" dirty="0"/>
            </a:br>
            <a:endParaRPr lang="en-IN" dirty="0"/>
          </a:p>
        </p:txBody>
      </p:sp>
      <p:sp>
        <p:nvSpPr>
          <p:cNvPr id="3" name="Date Placeholder 2">
            <a:extLst>
              <a:ext uri="{FF2B5EF4-FFF2-40B4-BE49-F238E27FC236}">
                <a16:creationId xmlns:a16="http://schemas.microsoft.com/office/drawing/2014/main" id="{3676E55A-599D-AB1E-7210-76BE2B215E52}"/>
              </a:ext>
            </a:extLst>
          </p:cNvPr>
          <p:cNvSpPr>
            <a:spLocks noGrp="1"/>
          </p:cNvSpPr>
          <p:nvPr>
            <p:ph type="dt" sz="half" idx="10"/>
          </p:nvPr>
        </p:nvSpPr>
        <p:spPr/>
        <p:txBody>
          <a:bodyPr/>
          <a:lstStyle/>
          <a:p>
            <a:fld id="{D8A17782-1209-4799-A160-B341E473A7CD}" type="datetime1">
              <a:rPr lang="en-US" smtClean="0"/>
              <a:t>10/15/2026</a:t>
            </a:fld>
            <a:endParaRPr lang="en-US"/>
          </a:p>
        </p:txBody>
      </p:sp>
      <p:sp>
        <p:nvSpPr>
          <p:cNvPr id="4" name="Footer Placeholder 3">
            <a:extLst>
              <a:ext uri="{FF2B5EF4-FFF2-40B4-BE49-F238E27FC236}">
                <a16:creationId xmlns:a16="http://schemas.microsoft.com/office/drawing/2014/main" id="{DB9A7B29-3963-CEA3-7F1C-C1CA43F03DAD}"/>
              </a:ext>
            </a:extLst>
          </p:cNvPr>
          <p:cNvSpPr>
            <a:spLocks noGrp="1"/>
          </p:cNvSpPr>
          <p:nvPr>
            <p:ph type="ftr" sz="quarter" idx="11"/>
          </p:nvPr>
        </p:nvSpPr>
        <p:spPr/>
        <p:txBody>
          <a:bodyPr/>
          <a:lstStyle/>
          <a:p>
            <a:r>
              <a:rPr lang="en-US"/>
              <a:t>Department of Electrical and Electronics Engineering</a:t>
            </a:r>
          </a:p>
        </p:txBody>
      </p:sp>
      <p:sp>
        <p:nvSpPr>
          <p:cNvPr id="5" name="Slide Number Placeholder 4">
            <a:extLst>
              <a:ext uri="{FF2B5EF4-FFF2-40B4-BE49-F238E27FC236}">
                <a16:creationId xmlns:a16="http://schemas.microsoft.com/office/drawing/2014/main" id="{9ED13CA0-543B-F1D9-D4E4-D10FB7FE428E}"/>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6" name="Content Placeholder 5">
            <a:extLst>
              <a:ext uri="{FF2B5EF4-FFF2-40B4-BE49-F238E27FC236}">
                <a16:creationId xmlns:a16="http://schemas.microsoft.com/office/drawing/2014/main" id="{8137AB5C-24AE-1B40-3C49-9175C655F071}"/>
              </a:ext>
            </a:extLst>
          </p:cNvPr>
          <p:cNvSpPr>
            <a:spLocks noGrp="1"/>
          </p:cNvSpPr>
          <p:nvPr>
            <p:ph sz="quarter" idx="1"/>
          </p:nvPr>
        </p:nvSpPr>
        <p:spPr/>
        <p:txBody>
          <a:bodyPr>
            <a:normAutofit lnSpcReduction="10000"/>
          </a:bodyPr>
          <a:lstStyle/>
          <a:p>
            <a:r>
              <a:rPr lang="en-IN" b="1" u="sng" dirty="0"/>
              <a:t>Software Requirements</a:t>
            </a:r>
          </a:p>
          <a:p>
            <a:pPr marL="0" indent="0">
              <a:buNone/>
            </a:pPr>
            <a:r>
              <a:rPr lang="en-IN" b="1" dirty="0"/>
              <a:t>Operating System:</a:t>
            </a:r>
            <a:r>
              <a:rPr lang="en-IN" dirty="0"/>
              <a:t> Windows </a:t>
            </a:r>
          </a:p>
          <a:p>
            <a:pPr marL="0" indent="0">
              <a:buNone/>
            </a:pPr>
            <a:r>
              <a:rPr lang="en-IN" b="1" dirty="0"/>
              <a:t>Programming Language:</a:t>
            </a:r>
            <a:r>
              <a:rPr lang="en-IN" dirty="0"/>
              <a:t> Python</a:t>
            </a:r>
          </a:p>
          <a:p>
            <a:pPr marL="0" indent="0">
              <a:buNone/>
            </a:pPr>
            <a:r>
              <a:rPr lang="en-IN" b="1" dirty="0"/>
              <a:t>Database Management System:</a:t>
            </a:r>
            <a:r>
              <a:rPr lang="en-IN" dirty="0"/>
              <a:t> PostgreSQL</a:t>
            </a:r>
          </a:p>
          <a:p>
            <a:pPr marL="0" indent="0">
              <a:buNone/>
            </a:pPr>
            <a:r>
              <a:rPr lang="en-IN" b="1" dirty="0"/>
              <a:t>Web Application Framework:</a:t>
            </a:r>
            <a:r>
              <a:rPr lang="en-IN" dirty="0"/>
              <a:t> Stream lit</a:t>
            </a:r>
          </a:p>
          <a:p>
            <a:pPr marL="0" indent="0">
              <a:buNone/>
            </a:pPr>
            <a:r>
              <a:rPr lang="en-IN" b="1" dirty="0"/>
              <a:t>Data Processing:</a:t>
            </a:r>
            <a:r>
              <a:rPr lang="en-IN" dirty="0"/>
              <a:t> Python-based data analysis and SQL queries</a:t>
            </a:r>
          </a:p>
          <a:p>
            <a:pPr marL="0" indent="0">
              <a:buNone/>
            </a:pPr>
            <a:r>
              <a:rPr lang="en-IN" b="1" dirty="0"/>
              <a:t>Visualization:</a:t>
            </a:r>
            <a:r>
              <a:rPr lang="en-IN" dirty="0"/>
              <a:t> Charts, graphs, and tables through the dashboard</a:t>
            </a:r>
          </a:p>
          <a:p>
            <a:r>
              <a:rPr lang="en-IN" b="1" u="sng" dirty="0"/>
              <a:t>Tools Used</a:t>
            </a:r>
          </a:p>
          <a:p>
            <a:pPr marL="0" indent="0">
              <a:buNone/>
            </a:pPr>
            <a:r>
              <a:rPr lang="en-IN" dirty="0"/>
              <a:t>Python, PostgreSQL, Stream Lit</a:t>
            </a:r>
          </a:p>
        </p:txBody>
      </p:sp>
    </p:spTree>
    <p:extLst>
      <p:ext uri="{BB962C8B-B14F-4D97-AF65-F5344CB8AC3E}">
        <p14:creationId xmlns:p14="http://schemas.microsoft.com/office/powerpoint/2010/main" val="626188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82779-D861-3AEB-E44E-1ABC3E1ABE3B}"/>
              </a:ext>
            </a:extLst>
          </p:cNvPr>
          <p:cNvSpPr>
            <a:spLocks noGrp="1"/>
          </p:cNvSpPr>
          <p:nvPr>
            <p:ph type="title"/>
          </p:nvPr>
        </p:nvSpPr>
        <p:spPr/>
        <p:txBody>
          <a:bodyPr/>
          <a:lstStyle/>
          <a:p>
            <a:pPr algn="ctr"/>
            <a:r>
              <a:rPr lang="en-IN" u="sng" dirty="0"/>
              <a:t>System Design</a:t>
            </a:r>
          </a:p>
        </p:txBody>
      </p:sp>
      <p:sp>
        <p:nvSpPr>
          <p:cNvPr id="3" name="Date Placeholder 2">
            <a:extLst>
              <a:ext uri="{FF2B5EF4-FFF2-40B4-BE49-F238E27FC236}">
                <a16:creationId xmlns:a16="http://schemas.microsoft.com/office/drawing/2014/main" id="{FCCF8F24-83AC-E188-A2E8-BBE0D2A9400D}"/>
              </a:ext>
            </a:extLst>
          </p:cNvPr>
          <p:cNvSpPr>
            <a:spLocks noGrp="1"/>
          </p:cNvSpPr>
          <p:nvPr>
            <p:ph type="dt" sz="half" idx="10"/>
          </p:nvPr>
        </p:nvSpPr>
        <p:spPr/>
        <p:txBody>
          <a:bodyPr/>
          <a:lstStyle/>
          <a:p>
            <a:fld id="{D8A17782-1209-4799-A160-B341E473A7CD}" type="datetime1">
              <a:rPr lang="en-US" smtClean="0"/>
              <a:t>10/15/2026</a:t>
            </a:fld>
            <a:endParaRPr lang="en-US"/>
          </a:p>
        </p:txBody>
      </p:sp>
      <p:sp>
        <p:nvSpPr>
          <p:cNvPr id="4" name="Footer Placeholder 3">
            <a:extLst>
              <a:ext uri="{FF2B5EF4-FFF2-40B4-BE49-F238E27FC236}">
                <a16:creationId xmlns:a16="http://schemas.microsoft.com/office/drawing/2014/main" id="{1DBC91B2-44B5-48C2-EB44-127DE1C77FB7}"/>
              </a:ext>
            </a:extLst>
          </p:cNvPr>
          <p:cNvSpPr>
            <a:spLocks noGrp="1"/>
          </p:cNvSpPr>
          <p:nvPr>
            <p:ph type="ftr" sz="quarter" idx="11"/>
          </p:nvPr>
        </p:nvSpPr>
        <p:spPr/>
        <p:txBody>
          <a:bodyPr/>
          <a:lstStyle/>
          <a:p>
            <a:r>
              <a:rPr lang="en-US"/>
              <a:t>Department of Electrical and Electronics Engineering</a:t>
            </a:r>
          </a:p>
        </p:txBody>
      </p:sp>
      <p:sp>
        <p:nvSpPr>
          <p:cNvPr id="5" name="Slide Number Placeholder 4">
            <a:extLst>
              <a:ext uri="{FF2B5EF4-FFF2-40B4-BE49-F238E27FC236}">
                <a16:creationId xmlns:a16="http://schemas.microsoft.com/office/drawing/2014/main" id="{94E7A59B-36FC-ABE1-F50D-0EA56D4E4678}"/>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6" name="Content Placeholder 5">
            <a:extLst>
              <a:ext uri="{FF2B5EF4-FFF2-40B4-BE49-F238E27FC236}">
                <a16:creationId xmlns:a16="http://schemas.microsoft.com/office/drawing/2014/main" id="{01FC7D91-3B33-65CC-2BE5-D26FCF33A7D4}"/>
              </a:ext>
            </a:extLst>
          </p:cNvPr>
          <p:cNvSpPr>
            <a:spLocks noGrp="1"/>
          </p:cNvSpPr>
          <p:nvPr>
            <p:ph sz="quarter" idx="1"/>
          </p:nvPr>
        </p:nvSpPr>
        <p:spPr/>
        <p:txBody>
          <a:bodyPr>
            <a:normAutofit fontScale="85000" lnSpcReduction="20000"/>
          </a:bodyPr>
          <a:lstStyle/>
          <a:p>
            <a:r>
              <a:rPr lang="en-IN" b="1" u="sng" dirty="0"/>
              <a:t>System Design Slide</a:t>
            </a:r>
          </a:p>
          <a:p>
            <a:pPr marL="0" indent="0">
              <a:buNone/>
            </a:pPr>
            <a:r>
              <a:rPr lang="en-US" b="1" dirty="0"/>
              <a:t>Technology:</a:t>
            </a:r>
            <a:r>
              <a:rPr lang="en-US" dirty="0"/>
              <a:t> Stream lit</a:t>
            </a:r>
          </a:p>
          <a:p>
            <a:pPr marL="0" indent="0">
              <a:buNone/>
            </a:pPr>
            <a:r>
              <a:rPr lang="en-US" dirty="0"/>
              <a:t>Provides an interactive, web-based interface for exploring student preference data.</a:t>
            </a:r>
          </a:p>
          <a:p>
            <a:pPr marL="0" indent="0">
              <a:buNone/>
            </a:pPr>
            <a:r>
              <a:rPr lang="en-US" dirty="0"/>
              <a:t>Allows users to explore analytical results and student records without directly executing SQL queries or Python code.</a:t>
            </a:r>
          </a:p>
          <a:p>
            <a:r>
              <a:rPr lang="en-IN" b="1" u="sng" dirty="0"/>
              <a:t>Back-End Design</a:t>
            </a:r>
          </a:p>
          <a:p>
            <a:pPr marL="0" indent="0">
              <a:buNone/>
            </a:pPr>
            <a:r>
              <a:rPr lang="en-IN" b="1" dirty="0"/>
              <a:t>Technologies:</a:t>
            </a:r>
            <a:r>
              <a:rPr lang="en-IN" dirty="0"/>
              <a:t> Python, PostgreSQL, SQL</a:t>
            </a:r>
          </a:p>
          <a:p>
            <a:pPr marL="0" indent="0">
              <a:buNone/>
            </a:pPr>
            <a:r>
              <a:rPr lang="en-IN" dirty="0"/>
              <a:t>Python connects to PostgreSQL to retrieve and update student preference records.</a:t>
            </a:r>
          </a:p>
          <a:p>
            <a:pPr marL="0" indent="0">
              <a:buNone/>
            </a:pPr>
            <a:r>
              <a:rPr lang="en-IN" dirty="0"/>
              <a:t>Python analyses student preferences and calculates distributions and frequency statistics.</a:t>
            </a:r>
          </a:p>
          <a:p>
            <a:pPr marL="0" indent="0">
              <a:buNone/>
            </a:pPr>
            <a:r>
              <a:rPr lang="en-IN" dirty="0"/>
              <a:t>Combines college–stream frequency and preference ranking to generate recommendations.</a:t>
            </a:r>
            <a:endParaRPr lang="en-US" b="1" u="sng" dirty="0"/>
          </a:p>
          <a:p>
            <a:pPr marL="0" indent="0">
              <a:buNone/>
            </a:pPr>
            <a:endParaRPr lang="en-IN" b="1" u="sng" dirty="0"/>
          </a:p>
        </p:txBody>
      </p:sp>
    </p:spTree>
    <p:extLst>
      <p:ext uri="{BB962C8B-B14F-4D97-AF65-F5344CB8AC3E}">
        <p14:creationId xmlns:p14="http://schemas.microsoft.com/office/powerpoint/2010/main" val="409721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85BB0A3-AA9D-4AA3-D31D-AC8507850FE2}"/>
              </a:ext>
            </a:extLst>
          </p:cNvPr>
          <p:cNvSpPr>
            <a:spLocks noGrp="1"/>
          </p:cNvSpPr>
          <p:nvPr>
            <p:ph type="dt" sz="half" idx="10"/>
          </p:nvPr>
        </p:nvSpPr>
        <p:spPr/>
        <p:txBody>
          <a:bodyPr/>
          <a:lstStyle/>
          <a:p>
            <a:fld id="{D8A17782-1209-4799-A160-B341E473A7CD}" type="datetime1">
              <a:rPr lang="en-US" smtClean="0"/>
              <a:t>10/15/2026</a:t>
            </a:fld>
            <a:endParaRPr lang="en-US"/>
          </a:p>
        </p:txBody>
      </p:sp>
      <p:sp>
        <p:nvSpPr>
          <p:cNvPr id="4" name="Footer Placeholder 3">
            <a:extLst>
              <a:ext uri="{FF2B5EF4-FFF2-40B4-BE49-F238E27FC236}">
                <a16:creationId xmlns:a16="http://schemas.microsoft.com/office/drawing/2014/main" id="{498D2952-A945-0A3D-0276-5F3427C78A3C}"/>
              </a:ext>
            </a:extLst>
          </p:cNvPr>
          <p:cNvSpPr>
            <a:spLocks noGrp="1"/>
          </p:cNvSpPr>
          <p:nvPr>
            <p:ph type="ftr" sz="quarter" idx="11"/>
          </p:nvPr>
        </p:nvSpPr>
        <p:spPr/>
        <p:txBody>
          <a:bodyPr/>
          <a:lstStyle/>
          <a:p>
            <a:r>
              <a:rPr lang="en-US"/>
              <a:t>Department of Electrical and Electronics Engineering</a:t>
            </a:r>
          </a:p>
        </p:txBody>
      </p:sp>
      <p:sp>
        <p:nvSpPr>
          <p:cNvPr id="5" name="Slide Number Placeholder 4">
            <a:extLst>
              <a:ext uri="{FF2B5EF4-FFF2-40B4-BE49-F238E27FC236}">
                <a16:creationId xmlns:a16="http://schemas.microsoft.com/office/drawing/2014/main" id="{8096A30B-E1D6-3484-6CB5-F3D4D308DC80}"/>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6" name="Content Placeholder 5">
            <a:extLst>
              <a:ext uri="{FF2B5EF4-FFF2-40B4-BE49-F238E27FC236}">
                <a16:creationId xmlns:a16="http://schemas.microsoft.com/office/drawing/2014/main" id="{20698155-2B41-CCAD-E605-F4CD5764A861}"/>
              </a:ext>
            </a:extLst>
          </p:cNvPr>
          <p:cNvSpPr>
            <a:spLocks noGrp="1"/>
          </p:cNvSpPr>
          <p:nvPr>
            <p:ph sz="quarter" idx="1"/>
          </p:nvPr>
        </p:nvSpPr>
        <p:spPr>
          <a:xfrm>
            <a:off x="914400" y="228600"/>
            <a:ext cx="7772400" cy="5791200"/>
          </a:xfrm>
        </p:spPr>
        <p:txBody>
          <a:bodyPr/>
          <a:lstStyle/>
          <a:p>
            <a:r>
              <a:rPr lang="en-IN" b="1" u="sng" dirty="0"/>
              <a:t>ER Diagram</a:t>
            </a:r>
          </a:p>
          <a:p>
            <a:pPr marL="0" indent="0">
              <a:buNone/>
            </a:pPr>
            <a:endParaRPr lang="en-IN" dirty="0"/>
          </a:p>
        </p:txBody>
      </p:sp>
      <p:pic>
        <p:nvPicPr>
          <p:cNvPr id="8" name="Picture 7">
            <a:extLst>
              <a:ext uri="{FF2B5EF4-FFF2-40B4-BE49-F238E27FC236}">
                <a16:creationId xmlns:a16="http://schemas.microsoft.com/office/drawing/2014/main" id="{15E40E74-A0FF-9B49-26DD-CACC363913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792637"/>
            <a:ext cx="6864053" cy="5638800"/>
          </a:xfrm>
          <a:prstGeom prst="rect">
            <a:avLst/>
          </a:prstGeom>
        </p:spPr>
      </p:pic>
    </p:spTree>
    <p:extLst>
      <p:ext uri="{BB962C8B-B14F-4D97-AF65-F5344CB8AC3E}">
        <p14:creationId xmlns:p14="http://schemas.microsoft.com/office/powerpoint/2010/main" val="393699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58E7B54-5483-1C60-5F88-DB64755911F2}"/>
              </a:ext>
            </a:extLst>
          </p:cNvPr>
          <p:cNvSpPr>
            <a:spLocks noGrp="1"/>
          </p:cNvSpPr>
          <p:nvPr>
            <p:ph type="dt" sz="half" idx="10"/>
          </p:nvPr>
        </p:nvSpPr>
        <p:spPr/>
        <p:txBody>
          <a:bodyPr/>
          <a:lstStyle/>
          <a:p>
            <a:fld id="{D8A17782-1209-4799-A160-B341E473A7CD}" type="datetime1">
              <a:rPr lang="en-US" smtClean="0"/>
              <a:t>10/15/2026</a:t>
            </a:fld>
            <a:endParaRPr lang="en-US"/>
          </a:p>
        </p:txBody>
      </p:sp>
      <p:sp>
        <p:nvSpPr>
          <p:cNvPr id="4" name="Footer Placeholder 3">
            <a:extLst>
              <a:ext uri="{FF2B5EF4-FFF2-40B4-BE49-F238E27FC236}">
                <a16:creationId xmlns:a16="http://schemas.microsoft.com/office/drawing/2014/main" id="{C50FA36D-5158-88CF-03C0-121B13BCC895}"/>
              </a:ext>
            </a:extLst>
          </p:cNvPr>
          <p:cNvSpPr>
            <a:spLocks noGrp="1"/>
          </p:cNvSpPr>
          <p:nvPr>
            <p:ph type="ftr" sz="quarter" idx="11"/>
          </p:nvPr>
        </p:nvSpPr>
        <p:spPr/>
        <p:txBody>
          <a:bodyPr/>
          <a:lstStyle/>
          <a:p>
            <a:r>
              <a:rPr lang="en-US"/>
              <a:t>Department of Electrical and Electronics Engineering</a:t>
            </a:r>
          </a:p>
        </p:txBody>
      </p:sp>
      <p:sp>
        <p:nvSpPr>
          <p:cNvPr id="5" name="Slide Number Placeholder 4">
            <a:extLst>
              <a:ext uri="{FF2B5EF4-FFF2-40B4-BE49-F238E27FC236}">
                <a16:creationId xmlns:a16="http://schemas.microsoft.com/office/drawing/2014/main" id="{67384B56-EBD9-3C76-2098-4A7892C4465D}"/>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6" name="Content Placeholder 5">
            <a:extLst>
              <a:ext uri="{FF2B5EF4-FFF2-40B4-BE49-F238E27FC236}">
                <a16:creationId xmlns:a16="http://schemas.microsoft.com/office/drawing/2014/main" id="{57B4C12F-11DF-C701-5D7E-509804A95B4F}"/>
              </a:ext>
            </a:extLst>
          </p:cNvPr>
          <p:cNvSpPr>
            <a:spLocks noGrp="1"/>
          </p:cNvSpPr>
          <p:nvPr>
            <p:ph sz="quarter" idx="1"/>
          </p:nvPr>
        </p:nvSpPr>
        <p:spPr>
          <a:xfrm>
            <a:off x="914400" y="190500"/>
            <a:ext cx="7772400" cy="5829300"/>
          </a:xfrm>
        </p:spPr>
        <p:txBody>
          <a:bodyPr/>
          <a:lstStyle/>
          <a:p>
            <a:r>
              <a:rPr lang="en-US" sz="2800" b="1" u="sng" dirty="0"/>
              <a:t>Table Design (Schema)</a:t>
            </a:r>
          </a:p>
          <a:p>
            <a:pPr marL="0" indent="0">
              <a:buNone/>
            </a:pPr>
            <a:endParaRPr lang="en-US" sz="2800" u="sng" dirty="0"/>
          </a:p>
        </p:txBody>
      </p:sp>
      <p:pic>
        <p:nvPicPr>
          <p:cNvPr id="8" name="Picture 7">
            <a:extLst>
              <a:ext uri="{FF2B5EF4-FFF2-40B4-BE49-F238E27FC236}">
                <a16:creationId xmlns:a16="http://schemas.microsoft.com/office/drawing/2014/main" id="{8272D67B-4FFF-3CA2-BDD2-15E151205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304" y="685800"/>
            <a:ext cx="8616696" cy="5486400"/>
          </a:xfrm>
          <a:prstGeom prst="rect">
            <a:avLst/>
          </a:prstGeom>
        </p:spPr>
      </p:pic>
    </p:spTree>
    <p:extLst>
      <p:ext uri="{BB962C8B-B14F-4D97-AF65-F5344CB8AC3E}">
        <p14:creationId xmlns:p14="http://schemas.microsoft.com/office/powerpoint/2010/main" val="3949593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4AA2C8B-EC41-F429-026F-0AF96822D552}"/>
              </a:ext>
            </a:extLst>
          </p:cNvPr>
          <p:cNvSpPr>
            <a:spLocks noGrp="1"/>
          </p:cNvSpPr>
          <p:nvPr>
            <p:ph type="dt" sz="half" idx="10"/>
          </p:nvPr>
        </p:nvSpPr>
        <p:spPr/>
        <p:txBody>
          <a:bodyPr/>
          <a:lstStyle/>
          <a:p>
            <a:fld id="{D8A17782-1209-4799-A160-B341E473A7CD}" type="datetime1">
              <a:rPr lang="en-US" smtClean="0"/>
              <a:t>10/15/2026</a:t>
            </a:fld>
            <a:endParaRPr lang="en-US"/>
          </a:p>
        </p:txBody>
      </p:sp>
      <p:sp>
        <p:nvSpPr>
          <p:cNvPr id="4" name="Footer Placeholder 3">
            <a:extLst>
              <a:ext uri="{FF2B5EF4-FFF2-40B4-BE49-F238E27FC236}">
                <a16:creationId xmlns:a16="http://schemas.microsoft.com/office/drawing/2014/main" id="{82E39D3D-5A11-8031-0C7C-B70725D4DD04}"/>
              </a:ext>
            </a:extLst>
          </p:cNvPr>
          <p:cNvSpPr>
            <a:spLocks noGrp="1"/>
          </p:cNvSpPr>
          <p:nvPr>
            <p:ph type="ftr" sz="quarter" idx="11"/>
          </p:nvPr>
        </p:nvSpPr>
        <p:spPr/>
        <p:txBody>
          <a:bodyPr/>
          <a:lstStyle/>
          <a:p>
            <a:r>
              <a:rPr lang="en-US"/>
              <a:t>Department of Electrical and Electronics Engineering</a:t>
            </a:r>
          </a:p>
        </p:txBody>
      </p:sp>
      <p:sp>
        <p:nvSpPr>
          <p:cNvPr id="5" name="Slide Number Placeholder 4">
            <a:extLst>
              <a:ext uri="{FF2B5EF4-FFF2-40B4-BE49-F238E27FC236}">
                <a16:creationId xmlns:a16="http://schemas.microsoft.com/office/drawing/2014/main" id="{6D63A686-4A44-62C6-FFD6-DE29FAADBEF1}"/>
              </a:ext>
            </a:extLst>
          </p:cNvPr>
          <p:cNvSpPr>
            <a:spLocks noGrp="1"/>
          </p:cNvSpPr>
          <p:nvPr>
            <p:ph type="sldNum" sz="quarter" idx="12"/>
          </p:nvPr>
        </p:nvSpPr>
        <p:spPr/>
        <p:txBody>
          <a:bodyPr/>
          <a:lstStyle/>
          <a:p>
            <a:fld id="{B6F15528-21DE-4FAA-801E-634DDDAF4B2B}" type="slidenum">
              <a:rPr lang="en-US" smtClean="0"/>
              <a:pPr/>
              <a:t>11</a:t>
            </a:fld>
            <a:endParaRPr lang="en-US"/>
          </a:p>
        </p:txBody>
      </p:sp>
      <p:pic>
        <p:nvPicPr>
          <p:cNvPr id="8" name="Content Placeholder 7">
            <a:extLst>
              <a:ext uri="{FF2B5EF4-FFF2-40B4-BE49-F238E27FC236}">
                <a16:creationId xmlns:a16="http://schemas.microsoft.com/office/drawing/2014/main" id="{3AF7DE67-840C-6047-B052-28C297F42FCC}"/>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914400" y="392450"/>
            <a:ext cx="7246676" cy="5093950"/>
          </a:xfrm>
        </p:spPr>
      </p:pic>
    </p:spTree>
    <p:extLst>
      <p:ext uri="{BB962C8B-B14F-4D97-AF65-F5344CB8AC3E}">
        <p14:creationId xmlns:p14="http://schemas.microsoft.com/office/powerpoint/2010/main" val="4082692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5BE2E-B78E-ECAD-D1AF-2C5031090E3A}"/>
              </a:ext>
            </a:extLst>
          </p:cNvPr>
          <p:cNvSpPr>
            <a:spLocks noGrp="1"/>
          </p:cNvSpPr>
          <p:nvPr>
            <p:ph type="title"/>
          </p:nvPr>
        </p:nvSpPr>
        <p:spPr/>
        <p:txBody>
          <a:bodyPr>
            <a:normAutofit/>
          </a:bodyPr>
          <a:lstStyle/>
          <a:p>
            <a:pPr algn="ctr"/>
            <a:r>
              <a:rPr lang="en-US" u="sng" dirty="0"/>
              <a:t>System Implementation</a:t>
            </a:r>
            <a:endParaRPr lang="en-IN" u="sng" dirty="0"/>
          </a:p>
        </p:txBody>
      </p:sp>
      <p:sp>
        <p:nvSpPr>
          <p:cNvPr id="3" name="Date Placeholder 2">
            <a:extLst>
              <a:ext uri="{FF2B5EF4-FFF2-40B4-BE49-F238E27FC236}">
                <a16:creationId xmlns:a16="http://schemas.microsoft.com/office/drawing/2014/main" id="{AAA6A406-9957-4B1A-0A48-66500A63CB19}"/>
              </a:ext>
            </a:extLst>
          </p:cNvPr>
          <p:cNvSpPr>
            <a:spLocks noGrp="1"/>
          </p:cNvSpPr>
          <p:nvPr>
            <p:ph type="dt" sz="half" idx="10"/>
          </p:nvPr>
        </p:nvSpPr>
        <p:spPr/>
        <p:txBody>
          <a:bodyPr/>
          <a:lstStyle/>
          <a:p>
            <a:fld id="{D8A17782-1209-4799-A160-B341E473A7CD}" type="datetime1">
              <a:rPr lang="en-US" smtClean="0"/>
              <a:t>10/15/2026</a:t>
            </a:fld>
            <a:endParaRPr lang="en-US"/>
          </a:p>
        </p:txBody>
      </p:sp>
      <p:sp>
        <p:nvSpPr>
          <p:cNvPr id="4" name="Footer Placeholder 3">
            <a:extLst>
              <a:ext uri="{FF2B5EF4-FFF2-40B4-BE49-F238E27FC236}">
                <a16:creationId xmlns:a16="http://schemas.microsoft.com/office/drawing/2014/main" id="{0CF0981A-36BC-68D7-E671-60509DC7B0AD}"/>
              </a:ext>
            </a:extLst>
          </p:cNvPr>
          <p:cNvSpPr>
            <a:spLocks noGrp="1"/>
          </p:cNvSpPr>
          <p:nvPr>
            <p:ph type="ftr" sz="quarter" idx="11"/>
          </p:nvPr>
        </p:nvSpPr>
        <p:spPr/>
        <p:txBody>
          <a:bodyPr/>
          <a:lstStyle/>
          <a:p>
            <a:r>
              <a:rPr lang="en-US"/>
              <a:t>Department of Electrical and Electronics Engineering</a:t>
            </a:r>
          </a:p>
        </p:txBody>
      </p:sp>
      <p:sp>
        <p:nvSpPr>
          <p:cNvPr id="5" name="Slide Number Placeholder 4">
            <a:extLst>
              <a:ext uri="{FF2B5EF4-FFF2-40B4-BE49-F238E27FC236}">
                <a16:creationId xmlns:a16="http://schemas.microsoft.com/office/drawing/2014/main" id="{126B6B8B-B4E4-E78C-8310-E407429BFC16}"/>
              </a:ext>
            </a:extLst>
          </p:cNvPr>
          <p:cNvSpPr>
            <a:spLocks noGrp="1"/>
          </p:cNvSpPr>
          <p:nvPr>
            <p:ph type="sldNum" sz="quarter" idx="12"/>
          </p:nvPr>
        </p:nvSpPr>
        <p:spPr/>
        <p:txBody>
          <a:bodyPr/>
          <a:lstStyle/>
          <a:p>
            <a:fld id="{B6F15528-21DE-4FAA-801E-634DDDAF4B2B}" type="slidenum">
              <a:rPr lang="en-US" smtClean="0"/>
              <a:pPr/>
              <a:t>12</a:t>
            </a:fld>
            <a:endParaRPr lang="en-US"/>
          </a:p>
        </p:txBody>
      </p:sp>
      <p:sp>
        <p:nvSpPr>
          <p:cNvPr id="6" name="Content Placeholder 5">
            <a:extLst>
              <a:ext uri="{FF2B5EF4-FFF2-40B4-BE49-F238E27FC236}">
                <a16:creationId xmlns:a16="http://schemas.microsoft.com/office/drawing/2014/main" id="{963B83CD-43FE-D3BD-1616-14EA0346CD4B}"/>
              </a:ext>
            </a:extLst>
          </p:cNvPr>
          <p:cNvSpPr>
            <a:spLocks noGrp="1"/>
          </p:cNvSpPr>
          <p:nvPr>
            <p:ph sz="quarter" idx="1"/>
          </p:nvPr>
        </p:nvSpPr>
        <p:spPr/>
        <p:txBody>
          <a:bodyPr>
            <a:normAutofit fontScale="70000" lnSpcReduction="20000"/>
          </a:bodyPr>
          <a:lstStyle/>
          <a:p>
            <a:r>
              <a:rPr lang="en-US" b="1" u="sng" dirty="0"/>
              <a:t>Integration of Front-End, Back-End &amp; Database</a:t>
            </a:r>
          </a:p>
          <a:p>
            <a:pPr marL="0" indent="0">
              <a:buNone/>
            </a:pPr>
            <a:r>
              <a:rPr lang="en-US" dirty="0"/>
              <a:t>The system integrates </a:t>
            </a:r>
            <a:r>
              <a:rPr lang="en-US" b="1" dirty="0"/>
              <a:t>Stream lit, Python, and PostgreSQL</a:t>
            </a:r>
            <a:r>
              <a:rPr lang="en-US" dirty="0"/>
              <a:t> to provide an interactive platform for student preference analysis and college–stream recommendations.</a:t>
            </a:r>
          </a:p>
          <a:p>
            <a:pPr marL="0" indent="0">
              <a:buNone/>
            </a:pPr>
            <a:r>
              <a:rPr lang="en-US" b="1" dirty="0"/>
              <a:t>Front-End — Stream lit:</a:t>
            </a:r>
            <a:r>
              <a:rPr lang="en-US" dirty="0"/>
              <a:t> Displays analytical results, recommendations, and student records through three interactive tabs.</a:t>
            </a:r>
          </a:p>
          <a:p>
            <a:pPr marL="0" indent="0">
              <a:buNone/>
            </a:pPr>
            <a:r>
              <a:rPr lang="en-US" b="1" dirty="0"/>
              <a:t>Back-End — Python:</a:t>
            </a:r>
            <a:r>
              <a:rPr lang="en-US" dirty="0"/>
              <a:t> Handles database connectivity, data processing, preference analysis, recommendation generation, and visualization.</a:t>
            </a:r>
          </a:p>
          <a:p>
            <a:pPr marL="0" indent="0">
              <a:buNone/>
            </a:pPr>
            <a:r>
              <a:rPr lang="en-US" b="1" dirty="0"/>
              <a:t>Database — PostgreSQL:</a:t>
            </a:r>
            <a:r>
              <a:rPr lang="en-US" dirty="0"/>
              <a:t> Stores and manages student records, including college preferences, stream preferences, priorities, Class XII scores, gender, and age.</a:t>
            </a:r>
          </a:p>
          <a:p>
            <a:r>
              <a:rPr lang="en-US" b="1" u="sng" dirty="0"/>
              <a:t>System Workflow</a:t>
            </a:r>
          </a:p>
          <a:p>
            <a:pPr marL="0" indent="0">
              <a:buNone/>
            </a:pPr>
            <a:r>
              <a:rPr lang="en-US" dirty="0"/>
              <a:t>Store student preference records in PostgreSQL.</a:t>
            </a:r>
          </a:p>
          <a:p>
            <a:pPr marL="0" indent="0">
              <a:buNone/>
            </a:pPr>
            <a:r>
              <a:rPr lang="en-US" dirty="0"/>
              <a:t>Retrieve the required data using Python and SQL.</a:t>
            </a:r>
          </a:p>
          <a:p>
            <a:pPr marL="0" indent="0">
              <a:buNone/>
            </a:pPr>
            <a:r>
              <a:rPr lang="en-US" dirty="0"/>
              <a:t>Analyze preference patterns and calculate statistics.</a:t>
            </a:r>
          </a:p>
          <a:p>
            <a:pPr marL="0" indent="0">
              <a:buNone/>
            </a:pPr>
            <a:r>
              <a:rPr lang="en-US" dirty="0"/>
              <a:t>Generate ranked college–stream recommendations.</a:t>
            </a:r>
          </a:p>
          <a:p>
            <a:pPr marL="0" indent="0">
              <a:buNone/>
            </a:pPr>
            <a:r>
              <a:rPr lang="en-US" dirty="0"/>
              <a:t>Display results through dashboard charts, graphs, and tables.</a:t>
            </a:r>
          </a:p>
          <a:p>
            <a:pPr marL="0" indent="0">
              <a:buNone/>
            </a:pPr>
            <a:endParaRPr lang="en-US" dirty="0"/>
          </a:p>
          <a:p>
            <a:endParaRPr lang="en-IN" dirty="0"/>
          </a:p>
        </p:txBody>
      </p:sp>
    </p:spTree>
    <p:extLst>
      <p:ext uri="{BB962C8B-B14F-4D97-AF65-F5344CB8AC3E}">
        <p14:creationId xmlns:p14="http://schemas.microsoft.com/office/powerpoint/2010/main" val="1883871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5E6A4-322F-1571-FC15-0B8B8C1BCB80}"/>
              </a:ext>
            </a:extLst>
          </p:cNvPr>
          <p:cNvSpPr>
            <a:spLocks noGrp="1"/>
          </p:cNvSpPr>
          <p:nvPr>
            <p:ph type="title"/>
          </p:nvPr>
        </p:nvSpPr>
        <p:spPr/>
        <p:txBody>
          <a:bodyPr>
            <a:normAutofit/>
          </a:bodyPr>
          <a:lstStyle/>
          <a:p>
            <a:pPr algn="ctr"/>
            <a:r>
              <a:rPr lang="en-US" b="1" u="sng" dirty="0"/>
              <a:t>Applications</a:t>
            </a:r>
            <a:endParaRPr lang="en-IN" u="sng" dirty="0"/>
          </a:p>
        </p:txBody>
      </p:sp>
      <p:sp>
        <p:nvSpPr>
          <p:cNvPr id="3" name="Date Placeholder 2">
            <a:extLst>
              <a:ext uri="{FF2B5EF4-FFF2-40B4-BE49-F238E27FC236}">
                <a16:creationId xmlns:a16="http://schemas.microsoft.com/office/drawing/2014/main" id="{0D4DF63B-D334-3DD7-769D-4403E6300A62}"/>
              </a:ext>
            </a:extLst>
          </p:cNvPr>
          <p:cNvSpPr>
            <a:spLocks noGrp="1"/>
          </p:cNvSpPr>
          <p:nvPr>
            <p:ph type="dt" sz="half" idx="10"/>
          </p:nvPr>
        </p:nvSpPr>
        <p:spPr/>
        <p:txBody>
          <a:bodyPr/>
          <a:lstStyle/>
          <a:p>
            <a:fld id="{D8A17782-1209-4799-A160-B341E473A7CD}" type="datetime1">
              <a:rPr lang="en-US" smtClean="0"/>
              <a:t>10/15/2026</a:t>
            </a:fld>
            <a:endParaRPr lang="en-US" dirty="0"/>
          </a:p>
        </p:txBody>
      </p:sp>
      <p:sp>
        <p:nvSpPr>
          <p:cNvPr id="4" name="Footer Placeholder 3">
            <a:extLst>
              <a:ext uri="{FF2B5EF4-FFF2-40B4-BE49-F238E27FC236}">
                <a16:creationId xmlns:a16="http://schemas.microsoft.com/office/drawing/2014/main" id="{40426F28-F4D2-A0DB-E3E6-9E3C2EC489BB}"/>
              </a:ext>
            </a:extLst>
          </p:cNvPr>
          <p:cNvSpPr>
            <a:spLocks noGrp="1"/>
          </p:cNvSpPr>
          <p:nvPr>
            <p:ph type="ftr" sz="quarter" idx="11"/>
          </p:nvPr>
        </p:nvSpPr>
        <p:spPr/>
        <p:txBody>
          <a:bodyPr/>
          <a:lstStyle/>
          <a:p>
            <a:r>
              <a:rPr lang="en-US"/>
              <a:t>Department of Electrical and Electronics Engineering</a:t>
            </a:r>
          </a:p>
        </p:txBody>
      </p:sp>
      <p:sp>
        <p:nvSpPr>
          <p:cNvPr id="5" name="Slide Number Placeholder 4">
            <a:extLst>
              <a:ext uri="{FF2B5EF4-FFF2-40B4-BE49-F238E27FC236}">
                <a16:creationId xmlns:a16="http://schemas.microsoft.com/office/drawing/2014/main" id="{CEBABECD-A0AB-8499-27B0-E520B6E5D39A}"/>
              </a:ext>
            </a:extLst>
          </p:cNvPr>
          <p:cNvSpPr>
            <a:spLocks noGrp="1"/>
          </p:cNvSpPr>
          <p:nvPr>
            <p:ph type="sldNum" sz="quarter" idx="12"/>
          </p:nvPr>
        </p:nvSpPr>
        <p:spPr/>
        <p:txBody>
          <a:bodyPr/>
          <a:lstStyle/>
          <a:p>
            <a:fld id="{B6F15528-21DE-4FAA-801E-634DDDAF4B2B}" type="slidenum">
              <a:rPr lang="en-US" smtClean="0"/>
              <a:pPr/>
              <a:t>13</a:t>
            </a:fld>
            <a:endParaRPr lang="en-US"/>
          </a:p>
        </p:txBody>
      </p:sp>
      <p:sp>
        <p:nvSpPr>
          <p:cNvPr id="6" name="Content Placeholder 5">
            <a:extLst>
              <a:ext uri="{FF2B5EF4-FFF2-40B4-BE49-F238E27FC236}">
                <a16:creationId xmlns:a16="http://schemas.microsoft.com/office/drawing/2014/main" id="{A7A89AD7-0D4F-A58F-4B0D-16D88401F55F}"/>
              </a:ext>
            </a:extLst>
          </p:cNvPr>
          <p:cNvSpPr>
            <a:spLocks noGrp="1"/>
          </p:cNvSpPr>
          <p:nvPr>
            <p:ph sz="quarter" idx="1"/>
          </p:nvPr>
        </p:nvSpPr>
        <p:spPr/>
        <p:txBody>
          <a:bodyPr>
            <a:normAutofit fontScale="62500" lnSpcReduction="20000"/>
          </a:bodyPr>
          <a:lstStyle/>
          <a:p>
            <a:r>
              <a:rPr lang="en-US" b="1" u="sng" dirty="0"/>
              <a:t>Real-World Applications</a:t>
            </a:r>
          </a:p>
          <a:p>
            <a:pPr marL="0" indent="0">
              <a:buNone/>
            </a:pPr>
            <a:r>
              <a:rPr lang="en-US" b="1" dirty="0"/>
              <a:t>Educational Institutions:</a:t>
            </a:r>
            <a:r>
              <a:rPr lang="en-US" dirty="0"/>
              <a:t> Analyze student preferences to understand popular colleges and academic streams.</a:t>
            </a:r>
          </a:p>
          <a:p>
            <a:pPr marL="0" indent="0">
              <a:buNone/>
            </a:pPr>
            <a:r>
              <a:rPr lang="en-US" b="1" dirty="0"/>
              <a:t>Student Counselling:</a:t>
            </a:r>
            <a:r>
              <a:rPr lang="en-US" dirty="0"/>
              <a:t> Support students in exploring college–stream combinations based on preference trends.</a:t>
            </a:r>
          </a:p>
          <a:p>
            <a:pPr marL="0" indent="0">
              <a:buNone/>
            </a:pPr>
            <a:r>
              <a:rPr lang="en-US" b="1" dirty="0"/>
              <a:t>Admission Planning:</a:t>
            </a:r>
            <a:r>
              <a:rPr lang="en-US" dirty="0"/>
              <a:t> Help institutions understand the distribution and popularity of student choices.</a:t>
            </a:r>
          </a:p>
          <a:p>
            <a:pPr marL="0" indent="0">
              <a:buNone/>
            </a:pPr>
            <a:r>
              <a:rPr lang="en-US" b="1" dirty="0"/>
              <a:t>Educational Data Analytics:</a:t>
            </a:r>
            <a:r>
              <a:rPr lang="en-US" dirty="0"/>
              <a:t> Identify preference patterns, priority distributions, and demographic trends.</a:t>
            </a:r>
          </a:p>
          <a:p>
            <a:pPr marL="0" indent="0">
              <a:buNone/>
            </a:pPr>
            <a:r>
              <a:rPr lang="en-US" b="1" dirty="0"/>
              <a:t>Academic Decision Support:</a:t>
            </a:r>
            <a:r>
              <a:rPr lang="en-US" dirty="0"/>
              <a:t> Present data-driven insights through interactive dashboards for easier interpretation.</a:t>
            </a:r>
          </a:p>
          <a:p>
            <a:r>
              <a:rPr lang="en-US" b="1" u="sng" dirty="0"/>
              <a:t>Industry Relevance</a:t>
            </a:r>
          </a:p>
          <a:p>
            <a:pPr marL="0" indent="0">
              <a:buNone/>
            </a:pPr>
            <a:r>
              <a:rPr lang="en-US" b="1" dirty="0"/>
              <a:t>EdTech Platforms:</a:t>
            </a:r>
            <a:r>
              <a:rPr lang="en-US" dirty="0"/>
              <a:t> Integrate preference analysis into educational guidance applications.</a:t>
            </a:r>
          </a:p>
          <a:p>
            <a:pPr marL="0" indent="0">
              <a:buNone/>
            </a:pPr>
            <a:r>
              <a:rPr lang="en-US" b="1" dirty="0"/>
              <a:t>Educational Consultancy:</a:t>
            </a:r>
            <a:r>
              <a:rPr lang="en-US" dirty="0"/>
              <a:t> Use preference trends to support college-selection counselling.</a:t>
            </a:r>
          </a:p>
          <a:p>
            <a:pPr marL="0" indent="0">
              <a:buNone/>
            </a:pPr>
            <a:r>
              <a:rPr lang="en-US" b="1" dirty="0"/>
              <a:t>Institutional Management:</a:t>
            </a:r>
            <a:r>
              <a:rPr lang="en-US" dirty="0"/>
              <a:t> Support data-informed planning and understanding of student demand.</a:t>
            </a:r>
          </a:p>
          <a:p>
            <a:pPr marL="0" indent="0">
              <a:buNone/>
            </a:pPr>
            <a:r>
              <a:rPr lang="en-US" b="1" dirty="0"/>
              <a:t>Database &amp; Analytics Solutions:</a:t>
            </a:r>
            <a:r>
              <a:rPr lang="en-US" dirty="0"/>
              <a:t> Demonstrate the practical integration of PostgreSQL, Python, and Stream lit.</a:t>
            </a:r>
          </a:p>
        </p:txBody>
      </p:sp>
    </p:spTree>
    <p:extLst>
      <p:ext uri="{BB962C8B-B14F-4D97-AF65-F5344CB8AC3E}">
        <p14:creationId xmlns:p14="http://schemas.microsoft.com/office/powerpoint/2010/main" val="2092394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DDF74-CDF1-D080-1CB2-194DA4E363AB}"/>
              </a:ext>
            </a:extLst>
          </p:cNvPr>
          <p:cNvSpPr>
            <a:spLocks noGrp="1"/>
          </p:cNvSpPr>
          <p:nvPr>
            <p:ph type="title"/>
          </p:nvPr>
        </p:nvSpPr>
        <p:spPr/>
        <p:txBody>
          <a:bodyPr>
            <a:normAutofit/>
          </a:bodyPr>
          <a:lstStyle/>
          <a:p>
            <a:pPr algn="ctr"/>
            <a:r>
              <a:rPr lang="en-US" b="1" u="sng" dirty="0"/>
              <a:t>Conclusion &amp; Future Scope</a:t>
            </a:r>
            <a:endParaRPr lang="en-IN" dirty="0"/>
          </a:p>
        </p:txBody>
      </p:sp>
      <p:sp>
        <p:nvSpPr>
          <p:cNvPr id="3" name="Date Placeholder 2">
            <a:extLst>
              <a:ext uri="{FF2B5EF4-FFF2-40B4-BE49-F238E27FC236}">
                <a16:creationId xmlns:a16="http://schemas.microsoft.com/office/drawing/2014/main" id="{151DAF2F-00D7-E556-270A-77FD3C19F20C}"/>
              </a:ext>
            </a:extLst>
          </p:cNvPr>
          <p:cNvSpPr>
            <a:spLocks noGrp="1"/>
          </p:cNvSpPr>
          <p:nvPr>
            <p:ph type="dt" sz="half" idx="10"/>
          </p:nvPr>
        </p:nvSpPr>
        <p:spPr/>
        <p:txBody>
          <a:bodyPr/>
          <a:lstStyle/>
          <a:p>
            <a:fld id="{D8A17782-1209-4799-A160-B341E473A7CD}" type="datetime1">
              <a:rPr lang="en-US" smtClean="0"/>
              <a:t>10/15/2026</a:t>
            </a:fld>
            <a:endParaRPr lang="en-US"/>
          </a:p>
        </p:txBody>
      </p:sp>
      <p:sp>
        <p:nvSpPr>
          <p:cNvPr id="4" name="Footer Placeholder 3">
            <a:extLst>
              <a:ext uri="{FF2B5EF4-FFF2-40B4-BE49-F238E27FC236}">
                <a16:creationId xmlns:a16="http://schemas.microsoft.com/office/drawing/2014/main" id="{564DC314-D486-F28E-6BBC-EEF272D26A34}"/>
              </a:ext>
            </a:extLst>
          </p:cNvPr>
          <p:cNvSpPr>
            <a:spLocks noGrp="1"/>
          </p:cNvSpPr>
          <p:nvPr>
            <p:ph type="ftr" sz="quarter" idx="11"/>
          </p:nvPr>
        </p:nvSpPr>
        <p:spPr/>
        <p:txBody>
          <a:bodyPr/>
          <a:lstStyle/>
          <a:p>
            <a:r>
              <a:rPr lang="en-US"/>
              <a:t>Department of Electrical and Electronics Engineering</a:t>
            </a:r>
          </a:p>
        </p:txBody>
      </p:sp>
      <p:sp>
        <p:nvSpPr>
          <p:cNvPr id="5" name="Slide Number Placeholder 4">
            <a:extLst>
              <a:ext uri="{FF2B5EF4-FFF2-40B4-BE49-F238E27FC236}">
                <a16:creationId xmlns:a16="http://schemas.microsoft.com/office/drawing/2014/main" id="{34B432A8-C650-2CCE-E4C4-4AB9C693B292}"/>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6" name="Content Placeholder 5">
            <a:extLst>
              <a:ext uri="{FF2B5EF4-FFF2-40B4-BE49-F238E27FC236}">
                <a16:creationId xmlns:a16="http://schemas.microsoft.com/office/drawing/2014/main" id="{07A4F03F-B38E-B391-C8CF-8FC3A6848AF0}"/>
              </a:ext>
            </a:extLst>
          </p:cNvPr>
          <p:cNvSpPr>
            <a:spLocks noGrp="1"/>
          </p:cNvSpPr>
          <p:nvPr>
            <p:ph sz="quarter" idx="1"/>
          </p:nvPr>
        </p:nvSpPr>
        <p:spPr/>
        <p:txBody>
          <a:bodyPr>
            <a:normAutofit fontScale="70000" lnSpcReduction="20000"/>
          </a:bodyPr>
          <a:lstStyle/>
          <a:p>
            <a:r>
              <a:rPr lang="en-US" b="1" u="sng" dirty="0"/>
              <a:t>Conclusion</a:t>
            </a:r>
          </a:p>
          <a:p>
            <a:pPr marL="0" indent="0">
              <a:buNone/>
            </a:pPr>
            <a:r>
              <a:rPr lang="en-US" dirty="0"/>
              <a:t>Developed an educational analytics and recommendation system using </a:t>
            </a:r>
            <a:r>
              <a:rPr lang="en-US" b="1" dirty="0"/>
              <a:t>Python, PostgreSQL, and Stream lit</a:t>
            </a:r>
            <a:r>
              <a:rPr lang="en-US" dirty="0"/>
              <a:t>. Analyzed 506 student records to identify priority distributions, popular colleges, preferred academic streams, and college–stream combinations. Implemented frequency- and ranking-based recommendation logic to support educational decision-making. Created an interactive dashboard with Analysis, Recommendations, and Raw Data tabs. Demonstrated the integration of database management, data analytics, recommendation logic, and visualization in a unified application.</a:t>
            </a:r>
          </a:p>
          <a:p>
            <a:r>
              <a:rPr lang="en-US" b="1" u="sng" dirty="0"/>
              <a:t>Future Scope</a:t>
            </a:r>
          </a:p>
          <a:p>
            <a:pPr marL="0" indent="0">
              <a:buNone/>
            </a:pPr>
            <a:r>
              <a:rPr lang="en-US" dirty="0"/>
              <a:t>Machine Learning Integration</a:t>
            </a:r>
          </a:p>
          <a:p>
            <a:pPr marL="0" indent="0">
              <a:buNone/>
            </a:pPr>
            <a:r>
              <a:rPr lang="en-US" dirty="0"/>
              <a:t>Personalized Recommendations</a:t>
            </a:r>
          </a:p>
          <a:p>
            <a:pPr marL="0" indent="0">
              <a:buNone/>
            </a:pPr>
            <a:r>
              <a:rPr lang="en-US" dirty="0"/>
              <a:t>Additional Parameters</a:t>
            </a:r>
          </a:p>
          <a:p>
            <a:pPr marL="0" indent="0">
              <a:buNone/>
            </a:pPr>
            <a:r>
              <a:rPr lang="en-US" dirty="0"/>
              <a:t>Historical Data Analysis</a:t>
            </a:r>
          </a:p>
          <a:p>
            <a:pPr marL="0" indent="0">
              <a:buNone/>
            </a:pPr>
            <a:r>
              <a:rPr lang="en-US" dirty="0"/>
              <a:t>Advanced Recommendation Techniques</a:t>
            </a:r>
          </a:p>
          <a:p>
            <a:pPr marL="0" indent="0">
              <a:buNone/>
            </a:pPr>
            <a:r>
              <a:rPr lang="en-US" dirty="0"/>
              <a:t>Scalability</a:t>
            </a:r>
          </a:p>
          <a:p>
            <a:pPr marL="0" indent="0">
              <a:buNone/>
            </a:pPr>
            <a:endParaRPr lang="en-US" dirty="0"/>
          </a:p>
          <a:p>
            <a:endParaRPr lang="en-IN" dirty="0"/>
          </a:p>
        </p:txBody>
      </p:sp>
    </p:spTree>
    <p:extLst>
      <p:ext uri="{BB962C8B-B14F-4D97-AF65-F5344CB8AC3E}">
        <p14:creationId xmlns:p14="http://schemas.microsoft.com/office/powerpoint/2010/main" val="35361544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7977D-07A6-CF0D-0659-F868F4004E7A}"/>
              </a:ext>
            </a:extLst>
          </p:cNvPr>
          <p:cNvSpPr>
            <a:spLocks noGrp="1"/>
          </p:cNvSpPr>
          <p:nvPr>
            <p:ph type="title"/>
          </p:nvPr>
        </p:nvSpPr>
        <p:spPr/>
        <p:txBody>
          <a:bodyPr>
            <a:normAutofit fontScale="90000"/>
          </a:bodyPr>
          <a:lstStyle/>
          <a:p>
            <a:r>
              <a:rPr lang="en-IN" b="1" u="sng" dirty="0"/>
              <a:t>Sustainable Development Goal 4: Quality Education</a:t>
            </a:r>
          </a:p>
        </p:txBody>
      </p:sp>
      <p:sp>
        <p:nvSpPr>
          <p:cNvPr id="4" name="Footer Placeholder 3">
            <a:extLst>
              <a:ext uri="{FF2B5EF4-FFF2-40B4-BE49-F238E27FC236}">
                <a16:creationId xmlns:a16="http://schemas.microsoft.com/office/drawing/2014/main" id="{95FA0F36-971B-4E10-A12D-DA83069EB960}"/>
              </a:ext>
            </a:extLst>
          </p:cNvPr>
          <p:cNvSpPr>
            <a:spLocks noGrp="1"/>
          </p:cNvSpPr>
          <p:nvPr>
            <p:ph type="ftr" sz="quarter" idx="11"/>
          </p:nvPr>
        </p:nvSpPr>
        <p:spPr/>
        <p:txBody>
          <a:bodyPr/>
          <a:lstStyle/>
          <a:p>
            <a:r>
              <a:rPr lang="en-US"/>
              <a:t>Department of Electrical and Electronics Engineering</a:t>
            </a:r>
          </a:p>
        </p:txBody>
      </p:sp>
      <p:sp>
        <p:nvSpPr>
          <p:cNvPr id="5" name="Slide Number Placeholder 4">
            <a:extLst>
              <a:ext uri="{FF2B5EF4-FFF2-40B4-BE49-F238E27FC236}">
                <a16:creationId xmlns:a16="http://schemas.microsoft.com/office/drawing/2014/main" id="{09CFC7A7-5E47-0162-741A-E5B693098E4A}"/>
              </a:ext>
            </a:extLst>
          </p:cNvPr>
          <p:cNvSpPr>
            <a:spLocks noGrp="1"/>
          </p:cNvSpPr>
          <p:nvPr>
            <p:ph type="sldNum" sz="quarter" idx="12"/>
          </p:nvPr>
        </p:nvSpPr>
        <p:spPr/>
        <p:txBody>
          <a:bodyPr/>
          <a:lstStyle/>
          <a:p>
            <a:fld id="{B6F15528-21DE-4FAA-801E-634DDDAF4B2B}" type="slidenum">
              <a:rPr lang="en-US" smtClean="0"/>
              <a:pPr/>
              <a:t>15</a:t>
            </a:fld>
            <a:endParaRPr lang="en-US"/>
          </a:p>
        </p:txBody>
      </p:sp>
      <p:sp>
        <p:nvSpPr>
          <p:cNvPr id="6" name="Content Placeholder 5">
            <a:extLst>
              <a:ext uri="{FF2B5EF4-FFF2-40B4-BE49-F238E27FC236}">
                <a16:creationId xmlns:a16="http://schemas.microsoft.com/office/drawing/2014/main" id="{4990D040-DB76-274E-334A-72AB7198B3BA}"/>
              </a:ext>
            </a:extLst>
          </p:cNvPr>
          <p:cNvSpPr>
            <a:spLocks noGrp="1"/>
          </p:cNvSpPr>
          <p:nvPr>
            <p:ph sz="quarter" idx="1"/>
          </p:nvPr>
        </p:nvSpPr>
        <p:spPr/>
        <p:txBody>
          <a:bodyPr>
            <a:normAutofit fontScale="55000" lnSpcReduction="20000"/>
          </a:bodyPr>
          <a:lstStyle/>
          <a:p>
            <a:pPr marL="0" indent="0">
              <a:buNone/>
            </a:pPr>
            <a:r>
              <a:rPr lang="en-US" b="1" dirty="0"/>
              <a:t>“Ensure inclusive and equitable quality education and promote lifelong learning opportunities for all.”</a:t>
            </a:r>
            <a:endParaRPr lang="en-US" dirty="0"/>
          </a:p>
          <a:p>
            <a:pPr marL="0" indent="0">
              <a:buNone/>
            </a:pPr>
            <a:r>
              <a:rPr lang="en-US" b="1" dirty="0"/>
              <a:t>Connection to Our Project</a:t>
            </a:r>
          </a:p>
          <a:p>
            <a:pPr marL="0" indent="0">
              <a:buNone/>
            </a:pPr>
            <a:r>
              <a:rPr lang="en-US" dirty="0"/>
              <a:t>The Student College and Stream Preference Analysis and Recommendation System supports </a:t>
            </a:r>
            <a:r>
              <a:rPr lang="en-US" b="1" dirty="0"/>
              <a:t>UN Sustainable Development Goal 4 (Quality Education)</a:t>
            </a:r>
            <a:r>
              <a:rPr lang="en-US" dirty="0"/>
              <a:t> by promoting data-driven educational decision-making.</a:t>
            </a:r>
          </a:p>
          <a:p>
            <a:pPr marL="0" indent="0">
              <a:buNone/>
            </a:pPr>
            <a:r>
              <a:rPr lang="en-US" b="1" dirty="0"/>
              <a:t>Informed Educational Choices:</a:t>
            </a:r>
            <a:r>
              <a:rPr lang="en-US" dirty="0"/>
              <a:t> Helps students explore college and academic stream preferences through data analysis and recommendations.</a:t>
            </a:r>
          </a:p>
          <a:p>
            <a:pPr marL="0" indent="0">
              <a:buNone/>
            </a:pPr>
            <a:r>
              <a:rPr lang="en-US" b="1" dirty="0"/>
              <a:t>Access to Information:</a:t>
            </a:r>
            <a:r>
              <a:rPr lang="en-US" dirty="0"/>
              <a:t> Presents student preference trends in an organized, interactive dashboard.</a:t>
            </a:r>
          </a:p>
          <a:p>
            <a:pPr marL="0" indent="0">
              <a:buNone/>
            </a:pPr>
            <a:r>
              <a:rPr lang="en-US" b="1" dirty="0"/>
              <a:t>Evidence-Based Decision-Making:</a:t>
            </a:r>
            <a:r>
              <a:rPr lang="en-US" dirty="0"/>
              <a:t> Helps identify popular colleges, preferred streams, and student priority patterns.</a:t>
            </a:r>
          </a:p>
          <a:p>
            <a:pPr marL="0" indent="0">
              <a:buNone/>
            </a:pPr>
            <a:r>
              <a:rPr lang="en-US" b="1" dirty="0"/>
              <a:t>Improved Educational Guidance:</a:t>
            </a:r>
            <a:r>
              <a:rPr lang="en-US" dirty="0"/>
              <a:t> Provides a foundation for more personalized college-selection support.</a:t>
            </a:r>
          </a:p>
          <a:p>
            <a:pPr marL="0" indent="0">
              <a:buNone/>
            </a:pPr>
            <a:r>
              <a:rPr lang="en-US" b="1" dirty="0"/>
              <a:t>Scalable Educational Analytics:</a:t>
            </a:r>
            <a:r>
              <a:rPr lang="en-US" dirty="0"/>
              <a:t> Can be extended with real admission data and machine learning to improve recommendation relevance.</a:t>
            </a:r>
          </a:p>
          <a:p>
            <a:r>
              <a:rPr lang="en-US" b="1" dirty="0"/>
              <a:t>Relevant SDG 4 Target</a:t>
            </a:r>
          </a:p>
          <a:p>
            <a:pPr marL="0" indent="0">
              <a:buNone/>
            </a:pPr>
            <a:r>
              <a:rPr lang="en-US" b="1" dirty="0"/>
              <a:t>Target 4.3:</a:t>
            </a:r>
            <a:r>
              <a:rPr lang="en-US" dirty="0"/>
              <a:t> By 2030, ensure equal access for all women and men to affordable and quality technical, vocational, and tertiary education, including university.</a:t>
            </a:r>
          </a:p>
          <a:p>
            <a:r>
              <a:rPr lang="en-US" b="1" dirty="0"/>
              <a:t>Expected Impact</a:t>
            </a:r>
          </a:p>
          <a:p>
            <a:pPr marL="0" indent="0">
              <a:buNone/>
            </a:pPr>
            <a:r>
              <a:rPr lang="en-US" dirty="0"/>
              <a:t>The project contributes to the broader goal of quality education by making student preference information easier to analyze and use for educational guidance. With further development, it could support more personalized and inclusive college-selection assistance.</a:t>
            </a:r>
          </a:p>
          <a:p>
            <a:endParaRPr lang="en-IN" dirty="0"/>
          </a:p>
        </p:txBody>
      </p:sp>
      <p:pic>
        <p:nvPicPr>
          <p:cNvPr id="1030" name="Picture 6" descr="SDGs 4 Quality Education Color">
            <a:extLst>
              <a:ext uri="{FF2B5EF4-FFF2-40B4-BE49-F238E27FC236}">
                <a16:creationId xmlns:a16="http://schemas.microsoft.com/office/drawing/2014/main" id="{36C7A11B-434C-55B6-72A8-8D0FAF6AEA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5707062"/>
            <a:ext cx="2667000" cy="685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3732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DAD49-B072-38E8-D239-4E891ADD785B}"/>
              </a:ext>
            </a:extLst>
          </p:cNvPr>
          <p:cNvSpPr>
            <a:spLocks noGrp="1"/>
          </p:cNvSpPr>
          <p:nvPr>
            <p:ph type="title"/>
          </p:nvPr>
        </p:nvSpPr>
        <p:spPr/>
        <p:txBody>
          <a:bodyPr>
            <a:normAutofit fontScale="90000"/>
          </a:bodyPr>
          <a:lstStyle/>
          <a:p>
            <a:pPr algn="ctr"/>
            <a:r>
              <a:rPr lang="en-US" b="1" u="sng" dirty="0"/>
              <a:t>References</a:t>
            </a:r>
            <a:br>
              <a:rPr lang="en-US" dirty="0"/>
            </a:br>
            <a:endParaRPr lang="en-IN" dirty="0"/>
          </a:p>
        </p:txBody>
      </p:sp>
      <p:sp>
        <p:nvSpPr>
          <p:cNvPr id="3" name="Date Placeholder 2">
            <a:extLst>
              <a:ext uri="{FF2B5EF4-FFF2-40B4-BE49-F238E27FC236}">
                <a16:creationId xmlns:a16="http://schemas.microsoft.com/office/drawing/2014/main" id="{CB432D39-E33B-AAA5-75A2-EAFCCD3FBD41}"/>
              </a:ext>
            </a:extLst>
          </p:cNvPr>
          <p:cNvSpPr>
            <a:spLocks noGrp="1"/>
          </p:cNvSpPr>
          <p:nvPr>
            <p:ph type="dt" sz="half" idx="10"/>
          </p:nvPr>
        </p:nvSpPr>
        <p:spPr/>
        <p:txBody>
          <a:bodyPr/>
          <a:lstStyle/>
          <a:p>
            <a:fld id="{D8A17782-1209-4799-A160-B341E473A7CD}" type="datetime1">
              <a:rPr lang="en-US" smtClean="0"/>
              <a:t>10/15/2026</a:t>
            </a:fld>
            <a:endParaRPr lang="en-US"/>
          </a:p>
        </p:txBody>
      </p:sp>
      <p:sp>
        <p:nvSpPr>
          <p:cNvPr id="4" name="Footer Placeholder 3">
            <a:extLst>
              <a:ext uri="{FF2B5EF4-FFF2-40B4-BE49-F238E27FC236}">
                <a16:creationId xmlns:a16="http://schemas.microsoft.com/office/drawing/2014/main" id="{750497A2-E60C-8BE3-C20C-E1A63F459C71}"/>
              </a:ext>
            </a:extLst>
          </p:cNvPr>
          <p:cNvSpPr>
            <a:spLocks noGrp="1"/>
          </p:cNvSpPr>
          <p:nvPr>
            <p:ph type="ftr" sz="quarter" idx="11"/>
          </p:nvPr>
        </p:nvSpPr>
        <p:spPr/>
        <p:txBody>
          <a:bodyPr/>
          <a:lstStyle/>
          <a:p>
            <a:r>
              <a:rPr lang="en-US"/>
              <a:t>Department of Electrical and Electronics Engineering</a:t>
            </a:r>
          </a:p>
        </p:txBody>
      </p:sp>
      <p:sp>
        <p:nvSpPr>
          <p:cNvPr id="5" name="Slide Number Placeholder 4">
            <a:extLst>
              <a:ext uri="{FF2B5EF4-FFF2-40B4-BE49-F238E27FC236}">
                <a16:creationId xmlns:a16="http://schemas.microsoft.com/office/drawing/2014/main" id="{7F711920-C951-B79B-15D6-CCF5FFAF6252}"/>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6" name="Content Placeholder 5">
            <a:extLst>
              <a:ext uri="{FF2B5EF4-FFF2-40B4-BE49-F238E27FC236}">
                <a16:creationId xmlns:a16="http://schemas.microsoft.com/office/drawing/2014/main" id="{6339149D-E1E3-9402-62EF-F7C3C42B6BBF}"/>
              </a:ext>
            </a:extLst>
          </p:cNvPr>
          <p:cNvSpPr>
            <a:spLocks noGrp="1"/>
          </p:cNvSpPr>
          <p:nvPr>
            <p:ph sz="quarter" idx="1"/>
          </p:nvPr>
        </p:nvSpPr>
        <p:spPr/>
        <p:txBody>
          <a:bodyPr>
            <a:normAutofit fontScale="77500" lnSpcReduction="20000"/>
          </a:bodyPr>
          <a:lstStyle/>
          <a:p>
            <a:r>
              <a:rPr lang="en-US" dirty="0"/>
              <a:t>[1] C. Romero and S. Ventura, "Educational data mining: A review of the state of the art," </a:t>
            </a:r>
            <a:r>
              <a:rPr lang="en-US" i="1" dirty="0"/>
              <a:t>IEEE Trans. Syst., Man, </a:t>
            </a:r>
            <a:r>
              <a:rPr lang="en-US" i="1" dirty="0" err="1"/>
              <a:t>Cybern</a:t>
            </a:r>
            <a:r>
              <a:rPr lang="en-US" i="1" dirty="0"/>
              <a:t>. C, Appl. Rev.</a:t>
            </a:r>
            <a:r>
              <a:rPr lang="en-US" dirty="0"/>
              <a:t>, vol. 40, no. 6, pp. 601–618, Nov. 2010.</a:t>
            </a:r>
            <a:endParaRPr lang="en-IN" dirty="0"/>
          </a:p>
          <a:p>
            <a:r>
              <a:rPr lang="en-US" dirty="0"/>
              <a:t>[2] PostgreSQL Global Development Group, "PostgreSQL Documentation."[Online].</a:t>
            </a:r>
            <a:r>
              <a:rPr lang="en-US" dirty="0" err="1"/>
              <a:t>Available:</a:t>
            </a:r>
            <a:r>
              <a:rPr lang="en-US" u="sng" dirty="0" err="1">
                <a:hlinkClick r:id="rId2"/>
              </a:rPr>
              <a:t>https</a:t>
            </a:r>
            <a:r>
              <a:rPr lang="en-US" u="sng" dirty="0">
                <a:hlinkClick r:id="rId2"/>
              </a:rPr>
              <a:t>://www.postgresql.org/docs/</a:t>
            </a:r>
            <a:r>
              <a:rPr lang="en-US" dirty="0"/>
              <a:t>. Accessed: Aug 28, 2026.</a:t>
            </a:r>
            <a:endParaRPr lang="en-IN" dirty="0"/>
          </a:p>
          <a:p>
            <a:r>
              <a:rPr lang="en-US" dirty="0"/>
              <a:t>[3]Python-Software Foundation, “Python Documentation." [Online]. Available: </a:t>
            </a:r>
            <a:r>
              <a:rPr lang="en-US" u="sng" dirty="0">
                <a:hlinkClick r:id="rId3"/>
              </a:rPr>
              <a:t>https://docs.python.org/3/</a:t>
            </a:r>
            <a:r>
              <a:rPr lang="en-US" dirty="0"/>
              <a:t>. Accessed: Aug. 28, 2026.</a:t>
            </a:r>
            <a:endParaRPr lang="en-IN" dirty="0"/>
          </a:p>
          <a:p>
            <a:r>
              <a:rPr lang="en-US" dirty="0"/>
              <a:t>[4] </a:t>
            </a:r>
            <a:r>
              <a:rPr lang="en-US" dirty="0" err="1"/>
              <a:t>Streamlit</a:t>
            </a:r>
            <a:r>
              <a:rPr lang="en-US" dirty="0"/>
              <a:t> Inc., "</a:t>
            </a:r>
            <a:r>
              <a:rPr lang="en-US" dirty="0" err="1"/>
              <a:t>Streamlit</a:t>
            </a:r>
            <a:r>
              <a:rPr lang="en-US" dirty="0"/>
              <a:t> Documentation." [Online]. Available: </a:t>
            </a:r>
            <a:r>
              <a:rPr lang="en-US" u="sng" dirty="0">
                <a:hlinkClick r:id="rId4"/>
              </a:rPr>
              <a:t>https://docs.streamlit.io/</a:t>
            </a:r>
            <a:r>
              <a:rPr lang="en-US" dirty="0"/>
              <a:t>. Accessed: Aug. 28, 2026.</a:t>
            </a:r>
            <a:endParaRPr lang="en-IN" dirty="0"/>
          </a:p>
          <a:p>
            <a:r>
              <a:rPr lang="en-US" dirty="0"/>
              <a:t>[5] W. McKinney, </a:t>
            </a:r>
            <a:r>
              <a:rPr lang="en-US" i="1" dirty="0"/>
              <a:t>Python for Data Analysis: Data Wrangling with Pandas, NumPy, and I Python</a:t>
            </a:r>
            <a:r>
              <a:rPr lang="en-US" dirty="0"/>
              <a:t>, 3rd ed. Sebastopol, CA, USA: O'Reilly Media, 2022.</a:t>
            </a:r>
            <a:endParaRPr lang="en-IN" dirty="0"/>
          </a:p>
          <a:p>
            <a:r>
              <a:rPr lang="en-US" dirty="0"/>
              <a:t>[6] C. C. Aggarwal, </a:t>
            </a:r>
            <a:r>
              <a:rPr lang="en-US" i="1" dirty="0"/>
              <a:t>Recommender Systems: The Textbook</a:t>
            </a:r>
            <a:r>
              <a:rPr lang="en-US" dirty="0"/>
              <a:t>. Cham, Switzerland: Springer, 2016.</a:t>
            </a:r>
            <a:endParaRPr lang="en-IN" dirty="0"/>
          </a:p>
          <a:p>
            <a:r>
              <a:rPr lang="en-US" dirty="0"/>
              <a:t>[7] F. Ricci, L. Rokach, and B. Shapira, Eds., </a:t>
            </a:r>
            <a:r>
              <a:rPr lang="en-US" i="1" dirty="0"/>
              <a:t>Recommender Systems Handbook</a:t>
            </a:r>
            <a:r>
              <a:rPr lang="en-US" dirty="0"/>
              <a:t>, 2nd ed. New York, NY, USA: Springer, 2015.</a:t>
            </a:r>
            <a:endParaRPr lang="en-IN" dirty="0"/>
          </a:p>
          <a:p>
            <a:pPr marL="0" indent="0">
              <a:buNone/>
            </a:pPr>
            <a:endParaRPr lang="en-IN" dirty="0"/>
          </a:p>
        </p:txBody>
      </p:sp>
    </p:spTree>
    <p:extLst>
      <p:ext uri="{BB962C8B-B14F-4D97-AF65-F5344CB8AC3E}">
        <p14:creationId xmlns:p14="http://schemas.microsoft.com/office/powerpoint/2010/main" val="21198054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137</TotalTime>
  <Words>1825</Words>
  <Application>Microsoft Office PowerPoint</Application>
  <PresentationFormat>On-screen Show (4:3)</PresentationFormat>
  <Paragraphs>205</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Calibri</vt:lpstr>
      <vt:lpstr>Franklin Gothic Book</vt:lpstr>
      <vt:lpstr>Perpetua</vt:lpstr>
      <vt:lpstr>Times New Roman</vt:lpstr>
      <vt:lpstr>Wingdings 2</vt:lpstr>
      <vt:lpstr>Equity</vt:lpstr>
      <vt:lpstr>Student College and Stream Preference Analysis and Recommendation System</vt:lpstr>
      <vt:lpstr>Presentation flow</vt:lpstr>
      <vt:lpstr> Introduction</vt:lpstr>
      <vt:lpstr>Project Aims and Objectives </vt:lpstr>
      <vt:lpstr>Background &amp; Existing System </vt:lpstr>
      <vt:lpstr>Proposed Solution</vt:lpstr>
      <vt:lpstr>Software Requirements &amp; Tools Used </vt:lpstr>
      <vt:lpstr>System Design</vt:lpstr>
      <vt:lpstr>PowerPoint Presentation</vt:lpstr>
      <vt:lpstr>PowerPoint Presentation</vt:lpstr>
      <vt:lpstr>PowerPoint Presentation</vt:lpstr>
      <vt:lpstr>System Implementation</vt:lpstr>
      <vt:lpstr>Applications</vt:lpstr>
      <vt:lpstr>Conclusion &amp; Future Scope</vt:lpstr>
      <vt:lpstr>Sustainable Development Goal 4: Quality Education</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Midterm Presentation  on  “Project Title”</dc:title>
  <dc:creator>Vrushali</dc:creator>
  <cp:lastModifiedBy>Jeel Bakrania</cp:lastModifiedBy>
  <cp:revision>26</cp:revision>
  <dcterms:created xsi:type="dcterms:W3CDTF">2006-08-16T00:00:00Z</dcterms:created>
  <dcterms:modified xsi:type="dcterms:W3CDTF">2026-10-15T06:50:28Z</dcterms:modified>
</cp:coreProperties>
</file>